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f3553e90-8c6c-af18-ee99-24909bace07d}">
          <p14:sldIdLst>
            <p14:sldId id="256"/>
            <p14:sldId id="257"/>
          </p14:sldIdLst>
        </p14:section>
        <p14:section name="Undergraduate" id="{08aa4442-b25a-be51-bf23-17cb86e5bdb7}">
          <p14:sldIdLst>
            <p14:sldId id="258"/>
            <p14:sldId id="259"/>
            <p14:sldId id="260"/>
          </p14:sldIdLst>
        </p14:section>
        <p14:section name="Bridge" id="{2864f201-1b67-0a59-79a6-880561316c29}">
          <p14:sldIdLst>
            <p14:sldId id="261"/>
          </p14:sldIdLst>
        </p14:section>
        <p14:section name="Master's" id="{4cbfa416-1303-960a-9182-02854d9bf4ba}">
          <p14:sldIdLst>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mn-lt"/>
              </a:defRPr>
            </a:pPr>
            <a:r>
              <a:rPr sz="1200" b="0" i="0" u="none" strike="noStrike">
                <a:solidFill>
                  <a:srgbClr val="14213D"/>
                </a:solidFill>
                <a:latin typeface="+mn-lt"/>
              </a:rPr>
              <a:t>BERTScore vs. actual utterances (axis starts at 0.60)</a:t>
            </a:r>
          </a:p>
        </c:rich>
      </c:tx>
      <c:layout/>
      <c:overlay val="0"/>
    </c:title>
    <c:autoTitleDeleted val="0"/>
    <c:plotArea>
      <c:layout/>
      <c:barChart>
        <c:barDir val="col"/>
        <c:grouping val="clustered"/>
        <c:varyColors val="0"/>
        <c:ser>
          <c:idx val="0"/>
          <c:order val="0"/>
          <c:tx>
            <c:strRef>
              <c:f>Sheet1!$B$1</c:f>
              <c:strCache>
                <c:ptCount val="1"/>
                <c:pt idx="0">
                  <c:v>InTA (UI only)</c:v>
                </c:pt>
              </c:strCache>
            </c:strRef>
          </c:tx>
          <c:spPr>
            <a:solidFill>
              <a:srgbClr val="6B7280"/>
            </a:solidFill>
            <a:effectLst/>
          </c:spPr>
          <c:invertIfNegative val="0"/>
          <c:dLbls>
            <c:numFmt formatCode="0.0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Good A</c:v>
                  </c:pt>
                  <c:pt idx="1">
                    <c:v>Bad A</c:v>
                  </c:pt>
                  <c:pt idx="2">
                    <c:v>Good B</c:v>
                  </c:pt>
                  <c:pt idx="3">
                    <c:v>Bad B</c:v>
                  </c:pt>
                </c:lvl>
              </c:multiLvlStrCache>
            </c:multiLvlStrRef>
          </c:cat>
          <c:val>
            <c:numRef>
              <c:f>Sheet1!$B$2:$B$5</c:f>
              <c:numCache>
                <c:formatCode>General</c:formatCode>
                <c:ptCount val="4"/>
                <c:pt idx="0">
                  <c:v>0.68</c:v>
                </c:pt>
                <c:pt idx="1">
                  <c:v>0.683</c:v>
                </c:pt>
                <c:pt idx="2">
                  <c:v>0.691</c:v>
                </c:pt>
                <c:pt idx="3">
                  <c:v>0.67</c:v>
                </c:pt>
              </c:numCache>
            </c:numRef>
          </c:val>
        </c:ser>
        <c:ser>
          <c:idx val="1"/>
          <c:order val="1"/>
          <c:tx>
            <c:strRef>
              <c:f>Sheet1!$C$1</c:f>
              <c:strCache>
                <c:ptCount val="1"/>
                <c:pt idx="0">
                  <c:v>EsTA (gaze + UI)</c:v>
                </c:pt>
              </c:strCache>
            </c:strRef>
          </c:tx>
          <c:spPr>
            <a:solidFill>
              <a:srgbClr val="0F8B8D"/>
            </a:solidFill>
            <a:effectLst/>
          </c:spPr>
          <c:invertIfNegative val="0"/>
          <c:dLbls>
            <c:numFmt formatCode="0.0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Good A</c:v>
                  </c:pt>
                  <c:pt idx="1">
                    <c:v>Bad A</c:v>
                  </c:pt>
                  <c:pt idx="2">
                    <c:v>Good B</c:v>
                  </c:pt>
                  <c:pt idx="3">
                    <c:v>Bad B</c:v>
                  </c:pt>
                </c:lvl>
              </c:multiLvlStrCache>
            </c:multiLvlStrRef>
          </c:cat>
          <c:val>
            <c:numRef>
              <c:f>Sheet1!$C$2:$C$5</c:f>
              <c:numCache>
                <c:formatCode>General</c:formatCode>
                <c:ptCount val="4"/>
                <c:pt idx="0">
                  <c:v>0.673</c:v>
                </c:pt>
                <c:pt idx="1">
                  <c:v>0.677</c:v>
                </c:pt>
                <c:pt idx="2">
                  <c:v>0.688</c:v>
                </c:pt>
                <c:pt idx="3">
                  <c:v>0.682</c:v>
                </c:pt>
              </c:numCache>
            </c:numRef>
          </c:val>
        </c:ser>
        <c:dLbls>
          <c:numFmt formatCode="0.000" sourceLinked="0"/>
          <c:txPr>
            <a:bodyPr/>
            <a:lstStyle/>
            <a:p>
              <a:pPr>
                <a:defRPr b="0" i="0" strike="noStrike" sz="10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0.71"/>
          <c:min val="0.6"/>
        </c:scaling>
        <c:delete val="0"/>
        <c:axPos val="l"/>
        <c:majorGridlines>
          <c:spPr>
            <a:ln w="6350" cap="flat">
              <a:solidFill>
                <a:srgbClr val="D9DEE5"/>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majorUnit val="0.02"/>
      </c:valAx>
      <c:spPr>
        <a:noFill/>
        <a:ln>
          <a:noFill/>
        </a:ln>
        <a:effectLst/>
      </c:spPr>
    </c:plotArea>
    <c:legend>
      <c:legendPos val="b"/>
      <c:overlay val="0"/>
      <c:txPr>
        <a:bodyPr/>
        <a:lstStyle/>
        <a:p>
          <a:pPr>
            <a:defRPr sz="1100">
              <a:solidFill>
                <a:srgbClr val="1F293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I'm Reina Ikeda, a first-year master's student at Tokyo Metropolitan University. I'll introduce my research on understanding why users hesitate, from my undergraduate thesis to my master's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Usability tests often use the think-aloud method: users speak their thoughts while operating a product. It reveals why people struggle, but talking while acting is a burden and can change natural behavior. My idea is to use eye movements and screen information, together with a large language model, to understand hesitation without that burden. My thesis predicted think-aloud; my master's research explains where and why users get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my thesis I proposed EsTA, which predicts think-aloud from gaze and UI information. A 120-hertz eye tracker records fixations, saccades and pupil size, and we add element coordinates and HTML code. GPT-4 receives both and writes the think-aloud as natural text, including doubt. As a baseline, InTA uses UI information only. Twenty university students performed four conditions: good or bad UI, on shopping and video sites. The bad UIs deliberately violated Nielsen's heuristics.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measured similarity to what participants actually said, using BERTScore. Both methods exceeded 0.617, a machine-translation benchmark, in every condition. EsTA was slightly lower in three of four conditions. Reading the outputs showed why: EsTA wrote thoughts users never voiced, which the metric counts as saying too much.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cart-checking scene. The participant said they would now check the cart. The UI-only output skipped the checking and said the budget comes later. EsTA described adding shipping to reach 12,900 yen and confirming it fit the budget, which matched the gaze moving through the prices. So gaze recovered a calculation that was never spoken. This was presented at the Japan Ergonomics Society last December.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left two challenges: the model sometimes says too much, and time order is weakly handled. So in my master's research I changed the goal and the evaluation. The tool now explains what users struggle with, and I check it against key points made by a human analyst. Saying too much becomes a number: the over-claim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takes two inputs. From gaze: dwell time and visit counts for each design technique, compared between good and bad versions. From the UI: which screen contains which technique, the HTML and CSS, and the task context. The LLM writes, for each technique, which element, on which screen, and why it caused trouble, plus a summary and suggestions. The core value is integrating two different modalities and explaining them; judging hesitation itself is not the goal. I evaluate against human key points, covering where, when and why, using recall and over-claim rate. These key points are never given to the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sites are mock shopping and job-search sites. The bad versions embed five techniques, each grounded in the literature: decoys with similar names, decorative noise, shifting button positions, inconsistent design, and a low-contrast progress indicator. Each technique has its own version, so effects can be separated, plus one version with all five. Nothing scrolls, so gaze coordinates stay reliable, and twenty areas of interest are defined on every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Prototypes for both sites are complete, and a six-person pilot is planned. So far I only have a three-person preliminary study and a wiring check with mock LLM responses, so I cannot claim results yet; the main study will recruit forty to sixty-four participants. Whatever the outcome, showing where an LLM's interpretation breaks down is itself a useful finding. My goal is to help UX teams find where and why users hesitate, with less burden on users.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457200" y="4828032"/>
            <a:ext cx="5486400" cy="228600"/>
          </a:xfrm>
          <a:prstGeom prst="rect">
            <a:avLst/>
          </a:prstGeom>
          <a:noFill/>
          <a:ln/>
        </p:spPr>
        <p:txBody>
          <a:bodyPr wrap="square" lIns="0" tIns="0" rIns="0" bIns="0" rtlCol="0" anchor="ctr"/>
          <a:lstStyle/>
          <a:p>
            <a:pPr indent="0" marL="0">
              <a:buNone/>
            </a:pPr>
            <a:r>
              <a:rPr lang="en-US" sz="900" dirty="0">
                <a:solidFill>
                  <a:schemeClr val="accent3"/>
                </a:solidFill>
              </a:rPr>
              <a:t>Understanding Why Users Hesitate · R. Ikeda</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aze ring outer"/>
          <p:cNvSpPr/>
          <p:nvPr/>
        </p:nvSpPr>
        <p:spPr>
          <a:xfrm>
            <a:off x="6766560" y="-1097280"/>
            <a:ext cx="4023360" cy="4023360"/>
          </a:xfrm>
          <a:prstGeom prst="ellipse">
            <a:avLst/>
          </a:prstGeom>
          <a:solidFill>
            <a:schemeClr val="accent1">
              <a:alpha val="30000"/>
            </a:schemeClr>
          </a:solidFill>
          <a:ln w="12700">
            <a:solidFill>
              <a:schemeClr val="accent1"/>
            </a:solidFill>
            <a:prstDash val="solid"/>
          </a:ln>
        </p:spPr>
      </p:sp>
      <p:sp>
        <p:nvSpPr>
          <p:cNvPr id="3" name="Gaze ring inner"/>
          <p:cNvSpPr/>
          <p:nvPr/>
        </p:nvSpPr>
        <p:spPr>
          <a:xfrm>
            <a:off x="7589520" y="-274320"/>
            <a:ext cx="2377440" cy="2377440"/>
          </a:xfrm>
          <a:prstGeom prst="ellipse">
            <a:avLst/>
          </a:prstGeom>
          <a:solidFill>
            <a:schemeClr val="accent2">
              <a:alpha val="45000"/>
            </a:schemeClr>
          </a:solidFill>
          <a:ln w="12700">
            <a:solidFill>
              <a:schemeClr val="accent2"/>
            </a:solidFill>
            <a:prstDash val="solid"/>
          </a:ln>
        </p:spPr>
      </p:sp>
      <p:sp>
        <p:nvSpPr>
          <p:cNvPr id="4" name="Title"/>
          <p:cNvSpPr txBox="1"/>
          <p:nvPr/>
        </p:nvSpPr>
        <p:spPr>
          <a:xfrm>
            <a:off x="548640" y="1097280"/>
            <a:ext cx="7498080" cy="1371600"/>
          </a:xfrm>
          <a:prstGeom prst="rect">
            <a:avLst/>
          </a:prstGeom>
          <a:noFill/>
          <a:ln/>
        </p:spPr>
        <p:txBody>
          <a:bodyPr wrap="square" lIns="0" tIns="0" rIns="0" bIns="0" rtlCol="0" anchor="t"/>
          <a:lstStyle/>
          <a:p>
            <a:pPr indent="0" marL="0">
              <a:buNone/>
            </a:pPr>
            <a:r>
              <a:rPr lang="en-US" sz="3600" b="1" dirty="0">
                <a:solidFill>
                  <a:schemeClr val="bg1"/>
                </a:solidFill>
                <a:latin typeface="Georgia" pitchFamily="34" charset="0"/>
                <a:ea typeface="Georgia" pitchFamily="34" charset="-122"/>
                <a:cs typeface="Georgia" pitchFamily="34" charset="-120"/>
              </a:rPr>
              <a:t>Understanding Why Users Hesitate</a:t>
            </a:r>
            <a:endParaRPr lang="en-US" sz="3600" dirty="0"/>
          </a:p>
        </p:txBody>
      </p:sp>
      <p:sp>
        <p:nvSpPr>
          <p:cNvPr id="5" name="Subtitle"/>
          <p:cNvSpPr txBox="1"/>
          <p:nvPr/>
        </p:nvSpPr>
        <p:spPr>
          <a:xfrm>
            <a:off x="548640" y="2651760"/>
            <a:ext cx="6949440" cy="731520"/>
          </a:xfrm>
          <a:prstGeom prst="rect">
            <a:avLst/>
          </a:prstGeom>
          <a:noFill/>
          <a:ln/>
        </p:spPr>
        <p:txBody>
          <a:bodyPr wrap="square" lIns="0" tIns="0" rIns="0" bIns="0" rtlCol="0" anchor="t"/>
          <a:lstStyle/>
          <a:p>
            <a:pPr indent="0" marL="0">
              <a:buNone/>
            </a:pPr>
            <a:r>
              <a:rPr lang="en-US" sz="2000" dirty="0">
                <a:solidFill>
                  <a:schemeClr val="accent6"/>
                </a:solidFill>
              </a:rPr>
              <a:t>From think-aloud prediction to LLM-based gaze interpretation</a:t>
            </a:r>
            <a:endParaRPr lang="en-US" sz="2000" dirty="0"/>
          </a:p>
        </p:txBody>
      </p:sp>
      <p:sp>
        <p:nvSpPr>
          <p:cNvPr id="6" name="Byline"/>
          <p:cNvSpPr txBox="1"/>
          <p:nvPr/>
        </p:nvSpPr>
        <p:spPr>
          <a:xfrm>
            <a:off x="548640" y="4114800"/>
            <a:ext cx="7315200" cy="320040"/>
          </a:xfrm>
          <a:prstGeom prst="rect">
            <a:avLst/>
          </a:prstGeom>
          <a:noFill/>
          <a:ln/>
        </p:spPr>
        <p:txBody>
          <a:bodyPr wrap="square" lIns="0" tIns="0" rIns="0" bIns="0" rtlCol="0" anchor="ctr"/>
          <a:lstStyle/>
          <a:p>
            <a:pPr indent="0" marL="0">
              <a:buNone/>
            </a:pPr>
            <a:r>
              <a:rPr lang="en-US" sz="1400" dirty="0">
                <a:solidFill>
                  <a:schemeClr val="bg1"/>
                </a:solidFill>
              </a:rPr>
              <a:t>Reina Ikeda · Master's student (1st year), Tokyo Metropolitan University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2200" b="1" dirty="0">
                <a:solidFill>
                  <a:schemeClr val="tx2"/>
                </a:solidFill>
                <a:latin typeface="Georgia" pitchFamily="34" charset="0"/>
                <a:ea typeface="Georgia" pitchFamily="34" charset="-122"/>
                <a:cs typeface="Georgia" pitchFamily="34" charset="-120"/>
              </a:rPr>
              <a:t>Think-aloud explains why, but at a cost</a:t>
            </a:r>
            <a:endParaRPr lang="en-US" sz="2200" dirty="0"/>
          </a:p>
        </p:txBody>
      </p:sp>
      <p:sp>
        <p:nvSpPr>
          <p:cNvPr id="4" name="Card Problem"/>
          <p:cNvSpPr/>
          <p:nvPr/>
        </p:nvSpPr>
        <p:spPr>
          <a:xfrm>
            <a:off x="457200" y="1234440"/>
            <a:ext cx="2560320" cy="2926080"/>
          </a:xfrm>
          <a:prstGeom prst="rect">
            <a:avLst/>
          </a:prstGeom>
          <a:solidFill>
            <a:schemeClr val="bg1"/>
          </a:solidFill>
          <a:ln w="12700">
            <a:solidFill>
              <a:schemeClr val="bg2"/>
            </a:solidFill>
            <a:prstDash val="solid"/>
          </a:ln>
        </p:spPr>
      </p:sp>
      <p:sp>
        <p:nvSpPr>
          <p:cNvPr id="5" name="Label Problem"/>
          <p:cNvSpPr txBox="1"/>
          <p:nvPr/>
        </p:nvSpPr>
        <p:spPr>
          <a:xfrm>
            <a:off x="640080" y="1371600"/>
            <a:ext cx="21945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PROBLEM</a:t>
            </a:r>
            <a:endParaRPr lang="en-US" sz="1200" dirty="0"/>
          </a:p>
        </p:txBody>
      </p:sp>
      <p:sp>
        <p:nvSpPr>
          <p:cNvPr id="6" name="Card Idea"/>
          <p:cNvSpPr/>
          <p:nvPr/>
        </p:nvSpPr>
        <p:spPr>
          <a:xfrm>
            <a:off x="3291840" y="1234440"/>
            <a:ext cx="2560320" cy="2926080"/>
          </a:xfrm>
          <a:prstGeom prst="rect">
            <a:avLst/>
          </a:prstGeom>
          <a:solidFill>
            <a:schemeClr val="bg1"/>
          </a:solidFill>
          <a:ln w="12700">
            <a:solidFill>
              <a:schemeClr val="bg2"/>
            </a:solidFill>
            <a:prstDash val="solid"/>
          </a:ln>
        </p:spPr>
      </p:sp>
      <p:sp>
        <p:nvSpPr>
          <p:cNvPr id="7" name="Label Idea"/>
          <p:cNvSpPr txBox="1"/>
          <p:nvPr/>
        </p:nvSpPr>
        <p:spPr>
          <a:xfrm>
            <a:off x="3474720" y="1371600"/>
            <a:ext cx="21945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IDEA</a:t>
            </a:r>
            <a:endParaRPr lang="en-US" sz="1200" dirty="0"/>
          </a:p>
        </p:txBody>
      </p:sp>
      <p:sp>
        <p:nvSpPr>
          <p:cNvPr id="8" name="Card Two stages"/>
          <p:cNvSpPr/>
          <p:nvPr/>
        </p:nvSpPr>
        <p:spPr>
          <a:xfrm>
            <a:off x="6126480" y="1234440"/>
            <a:ext cx="2560320" cy="2926080"/>
          </a:xfrm>
          <a:prstGeom prst="rect">
            <a:avLst/>
          </a:prstGeom>
          <a:solidFill>
            <a:schemeClr val="bg1"/>
          </a:solidFill>
          <a:ln w="12700">
            <a:solidFill>
              <a:schemeClr val="bg2"/>
            </a:solidFill>
            <a:prstDash val="solid"/>
          </a:ln>
        </p:spPr>
      </p:sp>
      <p:sp>
        <p:nvSpPr>
          <p:cNvPr id="9" name="Label Two stages"/>
          <p:cNvSpPr txBox="1"/>
          <p:nvPr/>
        </p:nvSpPr>
        <p:spPr>
          <a:xfrm>
            <a:off x="6309360" y="1371600"/>
            <a:ext cx="219456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TWO STAGES</a:t>
            </a:r>
            <a:endParaRPr lang="en-US" sz="1200" dirty="0"/>
          </a:p>
        </p:txBody>
      </p:sp>
      <p:sp>
        <p:nvSpPr>
          <p:cNvPr id="10" name="Problem body"/>
          <p:cNvSpPr txBox="1"/>
          <p:nvPr/>
        </p:nvSpPr>
        <p:spPr>
          <a:xfrm>
            <a:off x="640080" y="1737360"/>
            <a:ext cx="2194560" cy="2286000"/>
          </a:xfrm>
          <a:prstGeom prst="rect">
            <a:avLst/>
          </a:prstGeom>
          <a:noFill/>
          <a:ln/>
        </p:spPr>
        <p:txBody>
          <a:bodyPr wrap="square" lIns="1016" tIns="1016" rIns="1016" bIns="1016" rtlCol="0" anchor="t"/>
          <a:lstStyle/>
          <a:p>
            <a:pPr indent="0" marL="0">
              <a:buNone/>
            </a:pPr>
            <a:r>
              <a:rPr lang="en-US" sz="1600" b="1" dirty="0">
                <a:solidFill>
                  <a:schemeClr val="tx1"/>
                </a:solidFill>
              </a:rPr>
              <a:t>Think-aloud shows why users struggle.</a:t>
            </a:r>
            <a:endParaRPr lang="en-US" sz="1300" dirty="0"/>
          </a:p>
          <a:p>
            <a:pPr indent="0" marL="0">
              <a:buNone/>
            </a:pPr>
            <a:r>
              <a:rPr lang="en-US" sz="800" dirty="0">
                <a:solidFill>
                  <a:schemeClr val="tx1"/>
                </a:solidFill>
              </a:rPr>
              <a:t> </a:t>
            </a:r>
            <a:endParaRPr lang="en-US" sz="1300" dirty="0"/>
          </a:p>
          <a:p>
            <a:pPr indent="0" marL="0">
              <a:buNone/>
            </a:pPr>
            <a:r>
              <a:rPr lang="en-US" sz="1400" dirty="0">
                <a:solidFill>
                  <a:schemeClr val="tx1"/>
                </a:solidFill>
              </a:rPr>
              <a:t>But talking while acting is a burden and can change natural behavior.</a:t>
            </a:r>
            <a:endParaRPr lang="en-US" sz="1300" dirty="0"/>
          </a:p>
        </p:txBody>
      </p:sp>
      <p:sp>
        <p:nvSpPr>
          <p:cNvPr id="11" name="Idea body"/>
          <p:cNvSpPr txBox="1"/>
          <p:nvPr/>
        </p:nvSpPr>
        <p:spPr>
          <a:xfrm>
            <a:off x="3474720" y="1737360"/>
            <a:ext cx="2194560" cy="2286000"/>
          </a:xfrm>
          <a:prstGeom prst="rect">
            <a:avLst/>
          </a:prstGeom>
          <a:noFill/>
          <a:ln/>
        </p:spPr>
        <p:txBody>
          <a:bodyPr wrap="square" lIns="1016" tIns="1016" rIns="1016" bIns="1016" rtlCol="0" anchor="t"/>
          <a:lstStyle/>
          <a:p>
            <a:pPr indent="0" marL="0">
              <a:buNone/>
            </a:pPr>
            <a:r>
              <a:rPr lang="en-US" sz="1600" b="1" dirty="0">
                <a:solidFill>
                  <a:schemeClr val="tx1"/>
                </a:solidFill>
              </a:rPr>
              <a:t>Gaze + UI information + LLM</a:t>
            </a:r>
            <a:endParaRPr lang="en-US" sz="1300" dirty="0"/>
          </a:p>
          <a:p>
            <a:pPr indent="0" marL="0">
              <a:buNone/>
            </a:pPr>
            <a:r>
              <a:rPr lang="en-US" sz="800" dirty="0">
                <a:solidFill>
                  <a:schemeClr val="tx1"/>
                </a:solidFill>
              </a:rPr>
              <a:t> </a:t>
            </a:r>
            <a:endParaRPr lang="en-US" sz="1300" dirty="0"/>
          </a:p>
          <a:p>
            <a:pPr indent="0" marL="0">
              <a:buNone/>
            </a:pPr>
            <a:r>
              <a:rPr lang="en-US" sz="1400" dirty="0">
                <a:solidFill>
                  <a:schemeClr val="tx1"/>
                </a:solidFill>
              </a:rPr>
              <a:t>Understand hesitation without asking users to speak.</a:t>
            </a:r>
            <a:endParaRPr lang="en-US" sz="1300" dirty="0"/>
          </a:p>
        </p:txBody>
      </p:sp>
      <p:sp>
        <p:nvSpPr>
          <p:cNvPr id="12" name="Stage 1"/>
          <p:cNvSpPr/>
          <p:nvPr/>
        </p:nvSpPr>
        <p:spPr>
          <a:xfrm>
            <a:off x="6309360" y="1783080"/>
            <a:ext cx="2194560" cy="1005840"/>
          </a:xfrm>
          <a:prstGeom prst="rect">
            <a:avLst/>
          </a:prstGeom>
          <a:solidFill>
            <a:schemeClr val="accent6"/>
          </a:solidFill>
          <a:ln w="12700">
            <a:solidFill>
              <a:schemeClr val="bg2"/>
            </a:solidFill>
            <a:prstDash val="solid"/>
          </a:ln>
        </p:spPr>
      </p:sp>
      <p:sp>
        <p:nvSpPr>
          <p:cNvPr id="13" name="Stage 1 text"/>
          <p:cNvSpPr txBox="1"/>
          <p:nvPr/>
        </p:nvSpPr>
        <p:spPr>
          <a:xfrm>
            <a:off x="6400800" y="1828800"/>
            <a:ext cx="2011680" cy="914400"/>
          </a:xfrm>
          <a:prstGeom prst="rect">
            <a:avLst/>
          </a:prstGeom>
          <a:noFill/>
          <a:ln/>
        </p:spPr>
        <p:txBody>
          <a:bodyPr wrap="square" lIns="1016" tIns="1016" rIns="1016" bIns="1016" rtlCol="0" anchor="ctr"/>
          <a:lstStyle/>
          <a:p>
            <a:pPr indent="0" marL="0">
              <a:buNone/>
            </a:pPr>
            <a:r>
              <a:rPr lang="en-US" sz="1500" b="1" dirty="0">
                <a:solidFill>
                  <a:schemeClr val="tx1"/>
                </a:solidFill>
              </a:rPr>
              <a:t>Undergraduate</a:t>
            </a:r>
            <a:endParaRPr lang="en-US" sz="1500" dirty="0"/>
          </a:p>
          <a:p>
            <a:pPr indent="0" marL="0">
              <a:buNone/>
            </a:pPr>
            <a:r>
              <a:rPr lang="en-US" sz="1300" dirty="0">
                <a:solidFill>
                  <a:schemeClr val="tx1"/>
                </a:solidFill>
              </a:rPr>
              <a:t>Predict think-aloud</a:t>
            </a:r>
            <a:endParaRPr lang="en-US" sz="1500" dirty="0"/>
          </a:p>
        </p:txBody>
      </p:sp>
      <p:sp>
        <p:nvSpPr>
          <p:cNvPr id="14" name="Stage arrow"/>
          <p:cNvSpPr/>
          <p:nvPr/>
        </p:nvSpPr>
        <p:spPr>
          <a:xfrm>
            <a:off x="7269480" y="2834640"/>
            <a:ext cx="274320" cy="320040"/>
          </a:xfrm>
          <a:prstGeom prst="downArrow">
            <a:avLst/>
          </a:prstGeom>
          <a:solidFill>
            <a:schemeClr val="accent3"/>
          </a:solidFill>
          <a:ln w="12700">
            <a:solidFill>
              <a:schemeClr val="accent3"/>
            </a:solidFill>
            <a:prstDash val="solid"/>
          </a:ln>
        </p:spPr>
      </p:sp>
      <p:sp>
        <p:nvSpPr>
          <p:cNvPr id="15" name="Stage 2"/>
          <p:cNvSpPr/>
          <p:nvPr/>
        </p:nvSpPr>
        <p:spPr>
          <a:xfrm>
            <a:off x="6309360" y="3200400"/>
            <a:ext cx="2194560" cy="914400"/>
          </a:xfrm>
          <a:prstGeom prst="rect">
            <a:avLst/>
          </a:prstGeom>
          <a:solidFill>
            <a:schemeClr val="accent2"/>
          </a:solidFill>
          <a:ln w="12700">
            <a:solidFill>
              <a:schemeClr val="bg2"/>
            </a:solidFill>
            <a:prstDash val="solid"/>
          </a:ln>
        </p:spPr>
      </p:sp>
      <p:sp>
        <p:nvSpPr>
          <p:cNvPr id="16" name="Stage 2 text"/>
          <p:cNvSpPr txBox="1"/>
          <p:nvPr/>
        </p:nvSpPr>
        <p:spPr>
          <a:xfrm>
            <a:off x="6400800" y="3246120"/>
            <a:ext cx="2011680" cy="822960"/>
          </a:xfrm>
          <a:prstGeom prst="rect">
            <a:avLst/>
          </a:prstGeom>
          <a:noFill/>
          <a:ln/>
        </p:spPr>
        <p:txBody>
          <a:bodyPr wrap="square" lIns="1016" tIns="1016" rIns="1016" bIns="1016" rtlCol="0" anchor="ctr"/>
          <a:lstStyle/>
          <a:p>
            <a:pPr indent="0" marL="0">
              <a:buNone/>
            </a:pPr>
            <a:r>
              <a:rPr lang="en-US" sz="1500" b="1" dirty="0">
                <a:solidFill>
                  <a:schemeClr val="tx2"/>
                </a:solidFill>
              </a:rPr>
              <a:t>Master's</a:t>
            </a:r>
            <a:endParaRPr lang="en-US" sz="1500" dirty="0"/>
          </a:p>
          <a:p>
            <a:pPr indent="0" marL="0">
              <a:buNone/>
            </a:pPr>
            <a:r>
              <a:rPr lang="en-US" sz="1300" dirty="0">
                <a:solidFill>
                  <a:schemeClr val="tx2"/>
                </a:solidFill>
              </a:rPr>
              <a:t>Explain where and why</a:t>
            </a:r>
            <a:endParaRPr lang="en-US" sz="15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2200" b="1" dirty="0">
                <a:solidFill>
                  <a:schemeClr val="tx2"/>
                </a:solidFill>
                <a:latin typeface="Georgia" pitchFamily="34" charset="0"/>
                <a:ea typeface="Georgia" pitchFamily="34" charset="-122"/>
                <a:cs typeface="Georgia" pitchFamily="34" charset="-120"/>
              </a:rPr>
              <a:t>Undergraduate (1/3): EsTA predicts think-aloud</a:t>
            </a:r>
            <a:endParaRPr lang="en-US" sz="2200" dirty="0"/>
          </a:p>
        </p:txBody>
      </p:sp>
      <p:sp>
        <p:nvSpPr>
          <p:cNvPr id="4" name="Gaze box"/>
          <p:cNvSpPr/>
          <p:nvPr/>
        </p:nvSpPr>
        <p:spPr>
          <a:xfrm>
            <a:off x="457200" y="1280160"/>
            <a:ext cx="2468880" cy="1005840"/>
          </a:xfrm>
          <a:prstGeom prst="rect">
            <a:avLst/>
          </a:prstGeom>
          <a:solidFill>
            <a:schemeClr val="accent6"/>
          </a:solidFill>
          <a:ln w="12700">
            <a:solidFill>
              <a:schemeClr val="bg2"/>
            </a:solidFill>
            <a:prstDash val="solid"/>
          </a:ln>
        </p:spPr>
      </p:sp>
      <p:sp>
        <p:nvSpPr>
          <p:cNvPr id="5" name="Gaze text"/>
          <p:cNvSpPr txBox="1"/>
          <p:nvPr/>
        </p:nvSpPr>
        <p:spPr>
          <a:xfrm>
            <a:off x="548640" y="1325880"/>
            <a:ext cx="2286000" cy="914400"/>
          </a:xfrm>
          <a:prstGeom prst="rect">
            <a:avLst/>
          </a:prstGeom>
          <a:noFill/>
          <a:ln/>
        </p:spPr>
        <p:txBody>
          <a:bodyPr wrap="square" lIns="1016" tIns="1016" rIns="1016" bIns="1016" rtlCol="0" anchor="ctr"/>
          <a:lstStyle/>
          <a:p>
            <a:pPr indent="0" marL="0">
              <a:buNone/>
            </a:pPr>
            <a:r>
              <a:rPr lang="en-US" sz="1300" b="1" dirty="0">
                <a:solidFill>
                  <a:schemeClr val="tx1"/>
                </a:solidFill>
              </a:rPr>
              <a:t>Gaze (Tobii, 120 Hz)</a:t>
            </a:r>
            <a:endParaRPr lang="en-US" sz="1300" dirty="0"/>
          </a:p>
          <a:p>
            <a:pPr indent="0" marL="0">
              <a:buNone/>
            </a:pPr>
            <a:r>
              <a:rPr lang="en-US" sz="1200" dirty="0">
                <a:solidFill>
                  <a:schemeClr val="tx1"/>
                </a:solidFill>
              </a:rPr>
              <a:t>fixations · saccades · pupil size</a:t>
            </a:r>
            <a:endParaRPr lang="en-US" sz="1300" dirty="0"/>
          </a:p>
        </p:txBody>
      </p:sp>
      <p:sp>
        <p:nvSpPr>
          <p:cNvPr id="6" name="UI box"/>
          <p:cNvSpPr/>
          <p:nvPr/>
        </p:nvSpPr>
        <p:spPr>
          <a:xfrm>
            <a:off x="457200" y="2468880"/>
            <a:ext cx="2468880" cy="1005840"/>
          </a:xfrm>
          <a:prstGeom prst="rect">
            <a:avLst/>
          </a:prstGeom>
          <a:solidFill>
            <a:schemeClr val="accent6"/>
          </a:solidFill>
          <a:ln w="12700">
            <a:solidFill>
              <a:schemeClr val="bg2"/>
            </a:solidFill>
            <a:prstDash val="solid"/>
          </a:ln>
        </p:spPr>
      </p:sp>
      <p:sp>
        <p:nvSpPr>
          <p:cNvPr id="7" name="UI text"/>
          <p:cNvSpPr txBox="1"/>
          <p:nvPr/>
        </p:nvSpPr>
        <p:spPr>
          <a:xfrm>
            <a:off x="548640" y="2514600"/>
            <a:ext cx="2286000" cy="914400"/>
          </a:xfrm>
          <a:prstGeom prst="rect">
            <a:avLst/>
          </a:prstGeom>
          <a:noFill/>
          <a:ln/>
        </p:spPr>
        <p:txBody>
          <a:bodyPr wrap="square" lIns="1016" tIns="1016" rIns="1016" bIns="1016" rtlCol="0" anchor="ctr"/>
          <a:lstStyle/>
          <a:p>
            <a:pPr indent="0" marL="0">
              <a:buNone/>
            </a:pPr>
            <a:r>
              <a:rPr lang="en-US" sz="1300" b="1" dirty="0">
                <a:solidFill>
                  <a:schemeClr val="tx1"/>
                </a:solidFill>
              </a:rPr>
              <a:t>UI information</a:t>
            </a:r>
            <a:endParaRPr lang="en-US" sz="1300" dirty="0"/>
          </a:p>
          <a:p>
            <a:pPr indent="0" marL="0">
              <a:buNone/>
            </a:pPr>
            <a:r>
              <a:rPr lang="en-US" sz="1200" dirty="0">
                <a:solidFill>
                  <a:schemeClr val="tx1"/>
                </a:solidFill>
              </a:rPr>
              <a:t>element coordinates · HTML</a:t>
            </a:r>
            <a:endParaRPr lang="en-US" sz="1300" dirty="0"/>
          </a:p>
        </p:txBody>
      </p:sp>
      <p:sp>
        <p:nvSpPr>
          <p:cNvPr id="8" name="Arrow in"/>
          <p:cNvSpPr/>
          <p:nvPr/>
        </p:nvSpPr>
        <p:spPr>
          <a:xfrm>
            <a:off x="3063240" y="2331720"/>
            <a:ext cx="365760" cy="274320"/>
          </a:xfrm>
          <a:prstGeom prst="rightArrow">
            <a:avLst/>
          </a:prstGeom>
          <a:solidFill>
            <a:schemeClr val="accent3"/>
          </a:solidFill>
          <a:ln w="12700">
            <a:solidFill>
              <a:schemeClr val="accent3"/>
            </a:solidFill>
            <a:prstDash val="solid"/>
          </a:ln>
        </p:spPr>
      </p:sp>
      <p:sp>
        <p:nvSpPr>
          <p:cNvPr id="9" name="LLM box"/>
          <p:cNvSpPr/>
          <p:nvPr/>
        </p:nvSpPr>
        <p:spPr>
          <a:xfrm>
            <a:off x="3566160" y="1737360"/>
            <a:ext cx="1737360" cy="1188720"/>
          </a:xfrm>
          <a:prstGeom prst="rect">
            <a:avLst/>
          </a:prstGeom>
          <a:solidFill>
            <a:schemeClr val="tx2"/>
          </a:solidFill>
          <a:ln w="12700">
            <a:solidFill>
              <a:schemeClr val="bg2"/>
            </a:solidFill>
            <a:prstDash val="solid"/>
          </a:ln>
        </p:spPr>
      </p:sp>
      <p:sp>
        <p:nvSpPr>
          <p:cNvPr id="10" name="LLM text"/>
          <p:cNvSpPr txBox="1"/>
          <p:nvPr/>
        </p:nvSpPr>
        <p:spPr>
          <a:xfrm>
            <a:off x="3566160" y="1737360"/>
            <a:ext cx="1737360" cy="1188720"/>
          </a:xfrm>
          <a:prstGeom prst="rect">
            <a:avLst/>
          </a:prstGeom>
          <a:noFill/>
          <a:ln/>
        </p:spPr>
        <p:txBody>
          <a:bodyPr wrap="square" lIns="1016" tIns="1016" rIns="1016" bIns="1016" rtlCol="0" anchor="ctr"/>
          <a:lstStyle/>
          <a:p>
            <a:pPr algn="ctr" indent="0" marL="0">
              <a:buNone/>
            </a:pPr>
            <a:r>
              <a:rPr lang="en-US" sz="2200" b="1" dirty="0">
                <a:solidFill>
                  <a:schemeClr val="bg1"/>
                </a:solidFill>
                <a:latin typeface="Georgia" pitchFamily="34" charset="0"/>
                <a:ea typeface="Georgia" pitchFamily="34" charset="-122"/>
                <a:cs typeface="Georgia" pitchFamily="34" charset="-120"/>
              </a:rPr>
              <a:t>GPT-4</a:t>
            </a:r>
            <a:endParaRPr lang="en-US" sz="2200" dirty="0"/>
          </a:p>
        </p:txBody>
      </p:sp>
      <p:sp>
        <p:nvSpPr>
          <p:cNvPr id="11" name="Arrow out"/>
          <p:cNvSpPr/>
          <p:nvPr/>
        </p:nvSpPr>
        <p:spPr>
          <a:xfrm>
            <a:off x="5440680" y="2194560"/>
            <a:ext cx="365760" cy="274320"/>
          </a:xfrm>
          <a:prstGeom prst="rightArrow">
            <a:avLst/>
          </a:prstGeom>
          <a:solidFill>
            <a:schemeClr val="accent3"/>
          </a:solidFill>
          <a:ln w="12700">
            <a:solidFill>
              <a:schemeClr val="accent3"/>
            </a:solidFill>
            <a:prstDash val="solid"/>
          </a:ln>
        </p:spPr>
      </p:sp>
      <p:sp>
        <p:nvSpPr>
          <p:cNvPr id="12" name="Output box"/>
          <p:cNvSpPr/>
          <p:nvPr/>
        </p:nvSpPr>
        <p:spPr>
          <a:xfrm>
            <a:off x="5943600" y="1737360"/>
            <a:ext cx="2743200" cy="1188720"/>
          </a:xfrm>
          <a:prstGeom prst="rect">
            <a:avLst/>
          </a:prstGeom>
          <a:solidFill>
            <a:schemeClr val="accent2"/>
          </a:solidFill>
          <a:ln w="12700">
            <a:solidFill>
              <a:schemeClr val="bg2"/>
            </a:solidFill>
            <a:prstDash val="solid"/>
          </a:ln>
        </p:spPr>
      </p:sp>
      <p:sp>
        <p:nvSpPr>
          <p:cNvPr id="13" name="Output text"/>
          <p:cNvSpPr txBox="1"/>
          <p:nvPr/>
        </p:nvSpPr>
        <p:spPr>
          <a:xfrm>
            <a:off x="6035040" y="1783080"/>
            <a:ext cx="2560320" cy="1097280"/>
          </a:xfrm>
          <a:prstGeom prst="rect">
            <a:avLst/>
          </a:prstGeom>
          <a:noFill/>
          <a:ln/>
        </p:spPr>
        <p:txBody>
          <a:bodyPr wrap="square" lIns="1016" tIns="1016" rIns="1016" bIns="1016" rtlCol="0" anchor="ctr"/>
          <a:lstStyle/>
          <a:p>
            <a:pPr indent="0" marL="0">
              <a:buNone/>
            </a:pPr>
            <a:r>
              <a:rPr lang="en-US" sz="1300" b="1" dirty="0">
                <a:solidFill>
                  <a:schemeClr val="tx2"/>
                </a:solidFill>
              </a:rPr>
              <a:t>Predicted think-aloud</a:t>
            </a:r>
            <a:endParaRPr lang="en-US" sz="1300" dirty="0"/>
          </a:p>
          <a:p>
            <a:pPr indent="0" marL="0">
              <a:buNone/>
            </a:pPr>
            <a:r>
              <a:rPr lang="en-US" sz="1200" dirty="0">
                <a:solidFill>
                  <a:schemeClr val="tx2"/>
                </a:solidFill>
              </a:rPr>
              <a:t>natural text, including doubt</a:t>
            </a:r>
            <a:endParaRPr lang="en-US" sz="1300" dirty="0"/>
          </a:p>
        </p:txBody>
      </p:sp>
      <p:sp>
        <p:nvSpPr>
          <p:cNvPr id="14" name="Baseline note"/>
          <p:cNvSpPr/>
          <p:nvPr/>
        </p:nvSpPr>
        <p:spPr>
          <a:xfrm>
            <a:off x="457200" y="3703320"/>
            <a:ext cx="8229600" cy="868680"/>
          </a:xfrm>
          <a:prstGeom prst="rect">
            <a:avLst/>
          </a:prstGeom>
          <a:solidFill>
            <a:schemeClr val="bg1"/>
          </a:solidFill>
          <a:ln w="12700">
            <a:solidFill>
              <a:schemeClr val="bg2"/>
            </a:solidFill>
            <a:prstDash val="solid"/>
          </a:ln>
        </p:spPr>
      </p:sp>
      <p:sp>
        <p:nvSpPr>
          <p:cNvPr id="15" name="Baseline text"/>
          <p:cNvSpPr txBox="1"/>
          <p:nvPr/>
        </p:nvSpPr>
        <p:spPr>
          <a:xfrm>
            <a:off x="594360" y="3749040"/>
            <a:ext cx="7955280" cy="777240"/>
          </a:xfrm>
          <a:prstGeom prst="rect">
            <a:avLst/>
          </a:prstGeom>
          <a:noFill/>
          <a:ln/>
        </p:spPr>
        <p:txBody>
          <a:bodyPr wrap="square" lIns="1016" tIns="1016" rIns="1016" bIns="1016" rtlCol="0" anchor="ctr"/>
          <a:lstStyle/>
          <a:p>
            <a:pPr indent="0" marL="0">
              <a:buNone/>
            </a:pPr>
            <a:r>
              <a:rPr lang="en-US" sz="1300" b="1" dirty="0">
                <a:solidFill>
                  <a:schemeClr val="accent4"/>
                </a:solidFill>
              </a:rPr>
              <a:t>Baseline InTA: </a:t>
            </a:r>
            <a:pPr indent="0" marL="0">
              <a:buNone/>
            </a:pPr>
            <a:r>
              <a:rPr lang="en-US" sz="1300" dirty="0">
                <a:solidFill>
                  <a:schemeClr val="tx1"/>
                </a:solidFill>
              </a:rPr>
              <a:t>UI information only (no gaze).   </a:t>
            </a:r>
            <a:pPr indent="0" marL="0">
              <a:buNone/>
            </a:pPr>
            <a:r>
              <a:rPr lang="en-US" sz="1300" b="1" dirty="0">
                <a:solidFill>
                  <a:schemeClr val="accent1"/>
                </a:solidFill>
              </a:rPr>
              <a:t>Study: </a:t>
            </a:r>
            <a:pPr indent="0" marL="0">
              <a:buNone/>
            </a:pPr>
            <a:r>
              <a:rPr lang="en-US" sz="1300" dirty="0">
                <a:solidFill>
                  <a:schemeClr val="tx1"/>
                </a:solidFill>
              </a:rPr>
              <a:t>20 students × 4 conditions (Good/Bad UI × shopping/video). Bad UIs violate Nielsen's heuristics.</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2200" b="1" dirty="0">
                <a:solidFill>
                  <a:schemeClr val="tx2"/>
                </a:solidFill>
                <a:latin typeface="Georgia" pitchFamily="34" charset="0"/>
                <a:ea typeface="Georgia" pitchFamily="34" charset="-122"/>
                <a:cs typeface="Georgia" pitchFamily="34" charset="-120"/>
              </a:rPr>
              <a:t>Undergraduate (2/3): similar, but EsTA says more</a:t>
            </a:r>
            <a:endParaRPr lang="en-US" sz="2200" dirty="0"/>
          </a:p>
        </p:txBody>
      </p:sp>
      <p:graphicFrame>
        <p:nvGraphicFramePr>
          <p:cNvPr id="4" name="Chart 0" descr=""/>
          <p:cNvGraphicFramePr/>
          <p:nvPr/>
        </p:nvGraphicFramePr>
        <p:xfrm>
          <a:off x="365760" y="1143000"/>
          <a:ext cx="5394960" cy="3337560"/>
        </p:xfrm>
        <a:graphic xmlns:a="http://schemas.openxmlformats.org/drawingml/2006/main">
          <a:graphicData uri="http://schemas.openxmlformats.org/drawingml/2006/chart">
            <c:chart xmlns:c="http://schemas.openxmlformats.org/drawingml/2006/chart" r:id="rId1"/>
          </a:graphicData>
        </a:graphic>
      </p:graphicFrame>
      <p:sp>
        <p:nvSpPr>
          <p:cNvPr id="5" name="Callout 1"/>
          <p:cNvSpPr/>
          <p:nvPr/>
        </p:nvSpPr>
        <p:spPr>
          <a:xfrm>
            <a:off x="6035040" y="1280160"/>
            <a:ext cx="2651760" cy="914400"/>
          </a:xfrm>
          <a:prstGeom prst="rect">
            <a:avLst/>
          </a:prstGeom>
          <a:solidFill>
            <a:schemeClr val="bg1"/>
          </a:solidFill>
          <a:ln w="12700">
            <a:solidFill>
              <a:schemeClr val="bg2"/>
            </a:solidFill>
            <a:prstDash val="solid"/>
          </a:ln>
        </p:spPr>
      </p:sp>
      <p:sp>
        <p:nvSpPr>
          <p:cNvPr id="6" name="Callout 1 text"/>
          <p:cNvSpPr txBox="1"/>
          <p:nvPr/>
        </p:nvSpPr>
        <p:spPr>
          <a:xfrm>
            <a:off x="6126480" y="1325880"/>
            <a:ext cx="2468880" cy="822960"/>
          </a:xfrm>
          <a:prstGeom prst="rect">
            <a:avLst/>
          </a:prstGeom>
          <a:noFill/>
          <a:ln/>
        </p:spPr>
        <p:txBody>
          <a:bodyPr wrap="square" lIns="1016" tIns="1016" rIns="1016" bIns="1016" rtlCol="0" anchor="ctr"/>
          <a:lstStyle/>
          <a:p>
            <a:pPr indent="0" marL="0">
              <a:buNone/>
            </a:pPr>
            <a:r>
              <a:rPr lang="en-US" sz="1800" b="1" dirty="0">
                <a:solidFill>
                  <a:schemeClr val="accent1"/>
                </a:solidFill>
              </a:rPr>
              <a:t>All above 0.617</a:t>
            </a:r>
            <a:endParaRPr lang="en-US" sz="1300" dirty="0"/>
          </a:p>
          <a:p>
            <a:pPr indent="0" marL="0">
              <a:buNone/>
            </a:pPr>
            <a:r>
              <a:rPr lang="en-US" sz="1200" dirty="0">
                <a:solidFill>
                  <a:schemeClr val="tx1"/>
                </a:solidFill>
              </a:rPr>
              <a:t>WMT24 benchmark, every condition</a:t>
            </a:r>
            <a:endParaRPr lang="en-US" sz="1300" dirty="0"/>
          </a:p>
        </p:txBody>
      </p:sp>
      <p:sp>
        <p:nvSpPr>
          <p:cNvPr id="7" name="Callout 2"/>
          <p:cNvSpPr/>
          <p:nvPr/>
        </p:nvSpPr>
        <p:spPr>
          <a:xfrm>
            <a:off x="6035040" y="2377440"/>
            <a:ext cx="2651760" cy="914400"/>
          </a:xfrm>
          <a:prstGeom prst="rect">
            <a:avLst/>
          </a:prstGeom>
          <a:solidFill>
            <a:schemeClr val="bg1"/>
          </a:solidFill>
          <a:ln w="12700">
            <a:solidFill>
              <a:schemeClr val="bg2"/>
            </a:solidFill>
            <a:prstDash val="solid"/>
          </a:ln>
        </p:spPr>
      </p:sp>
      <p:sp>
        <p:nvSpPr>
          <p:cNvPr id="8" name="Callout 2 text"/>
          <p:cNvSpPr txBox="1"/>
          <p:nvPr/>
        </p:nvSpPr>
        <p:spPr>
          <a:xfrm>
            <a:off x="6126480" y="2423160"/>
            <a:ext cx="2468880" cy="822960"/>
          </a:xfrm>
          <a:prstGeom prst="rect">
            <a:avLst/>
          </a:prstGeom>
          <a:noFill/>
          <a:ln/>
        </p:spPr>
        <p:txBody>
          <a:bodyPr wrap="square" lIns="1016" tIns="1016" rIns="1016" bIns="1016" rtlCol="0" anchor="ctr"/>
          <a:lstStyle/>
          <a:p>
            <a:pPr indent="0" marL="0">
              <a:buNone/>
            </a:pPr>
            <a:r>
              <a:rPr lang="en-US" sz="1800" b="1" dirty="0">
                <a:solidFill>
                  <a:schemeClr val="accent3"/>
                </a:solidFill>
              </a:rPr>
              <a:t>EsTA lower in 3 of 4</a:t>
            </a:r>
            <a:endParaRPr lang="en-US" sz="1300" dirty="0"/>
          </a:p>
          <a:p>
            <a:pPr indent="0" marL="0">
              <a:buNone/>
            </a:pPr>
            <a:r>
              <a:rPr lang="en-US" sz="1200" dirty="0">
                <a:solidFill>
                  <a:schemeClr val="tx1"/>
                </a:solidFill>
              </a:rPr>
              <a:t>Good A, Bad A, Good B</a:t>
            </a:r>
            <a:endParaRPr lang="en-US" sz="1300" dirty="0"/>
          </a:p>
        </p:txBody>
      </p:sp>
      <p:sp>
        <p:nvSpPr>
          <p:cNvPr id="9" name="Callout 3"/>
          <p:cNvSpPr/>
          <p:nvPr/>
        </p:nvSpPr>
        <p:spPr>
          <a:xfrm>
            <a:off x="6035040" y="3474720"/>
            <a:ext cx="2651760" cy="1097280"/>
          </a:xfrm>
          <a:prstGeom prst="rect">
            <a:avLst/>
          </a:prstGeom>
          <a:solidFill>
            <a:schemeClr val="accent2"/>
          </a:solidFill>
          <a:ln w="12700">
            <a:solidFill>
              <a:schemeClr val="bg2"/>
            </a:solidFill>
            <a:prstDash val="solid"/>
          </a:ln>
        </p:spPr>
      </p:sp>
      <p:sp>
        <p:nvSpPr>
          <p:cNvPr id="10" name="Callout 3 text"/>
          <p:cNvSpPr txBox="1"/>
          <p:nvPr/>
        </p:nvSpPr>
        <p:spPr>
          <a:xfrm>
            <a:off x="6126480" y="3520440"/>
            <a:ext cx="2468880" cy="1005840"/>
          </a:xfrm>
          <a:prstGeom prst="rect">
            <a:avLst/>
          </a:prstGeom>
          <a:noFill/>
          <a:ln/>
        </p:spPr>
        <p:txBody>
          <a:bodyPr wrap="square" lIns="1016" tIns="1016" rIns="1016" bIns="1016" rtlCol="0" anchor="ctr"/>
          <a:lstStyle/>
          <a:p>
            <a:pPr indent="0" marL="0">
              <a:buNone/>
            </a:pPr>
            <a:r>
              <a:rPr lang="en-US" sz="1600" b="1" dirty="0">
                <a:solidFill>
                  <a:schemeClr val="tx2"/>
                </a:solidFill>
              </a:rPr>
              <a:t>Why? "Saying too much"</a:t>
            </a:r>
            <a:endParaRPr lang="en-US" sz="1300" dirty="0"/>
          </a:p>
          <a:p>
            <a:pPr indent="0" marL="0">
              <a:buNone/>
            </a:pPr>
            <a:r>
              <a:rPr lang="en-US" sz="1200" dirty="0">
                <a:solidFill>
                  <a:schemeClr val="tx2"/>
                </a:solidFill>
              </a:rPr>
              <a:t>EsTA wrote thoughts users never voiced.</a:t>
            </a:r>
            <a:endParaRPr lang="en-US" sz="1300" dirty="0"/>
          </a:p>
        </p:txBody>
      </p:sp>
      <p:sp>
        <p:nvSpPr>
          <p:cNvPr id="11" name="Axis note"/>
          <p:cNvSpPr txBox="1"/>
          <p:nvPr/>
        </p:nvSpPr>
        <p:spPr>
          <a:xfrm>
            <a:off x="457200" y="4572000"/>
            <a:ext cx="5029200" cy="228600"/>
          </a:xfrm>
          <a:prstGeom prst="rect">
            <a:avLst/>
          </a:prstGeom>
          <a:noFill/>
          <a:ln/>
        </p:spPr>
        <p:txBody>
          <a:bodyPr wrap="square" lIns="0" tIns="0" rIns="0" bIns="0" rtlCol="0" anchor="t"/>
          <a:lstStyle/>
          <a:p>
            <a:pPr indent="0" marL="0">
              <a:buNone/>
            </a:pPr>
            <a:r>
              <a:rPr lang="en-US" sz="900" dirty="0">
                <a:solidFill>
                  <a:schemeClr val="accent3"/>
                </a:solidFill>
              </a:rPr>
              <a:t>A = e-commerce, B = video streaming</a:t>
            </a:r>
            <a:endParaRPr lang="en-US" sz="9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2200" b="1" dirty="0">
                <a:solidFill>
                  <a:schemeClr val="tx2"/>
                </a:solidFill>
                <a:latin typeface="Georgia" pitchFamily="34" charset="0"/>
                <a:ea typeface="Georgia" pitchFamily="34" charset="-122"/>
                <a:cs typeface="Georgia" pitchFamily="34" charset="-120"/>
              </a:rPr>
              <a:t>Undergraduate (3/3): gaze recovered an unspoken calculation</a:t>
            </a:r>
            <a:endParaRPr lang="en-US" sz="2200" dirty="0"/>
          </a:p>
        </p:txBody>
      </p:sp>
      <p:sp>
        <p:nvSpPr>
          <p:cNvPr id="4" name="Quote card 1"/>
          <p:cNvSpPr/>
          <p:nvPr/>
        </p:nvSpPr>
        <p:spPr>
          <a:xfrm>
            <a:off x="457200" y="1280160"/>
            <a:ext cx="2651760" cy="2377440"/>
          </a:xfrm>
          <a:prstGeom prst="rect">
            <a:avLst/>
          </a:prstGeom>
          <a:solidFill>
            <a:schemeClr val="bg1"/>
          </a:solidFill>
          <a:ln w="12700">
            <a:solidFill>
              <a:schemeClr val="bg2"/>
            </a:solidFill>
            <a:prstDash val="solid"/>
          </a:ln>
        </p:spPr>
      </p:sp>
      <p:sp>
        <p:nvSpPr>
          <p:cNvPr id="5" name="Quote head 1"/>
          <p:cNvSpPr/>
          <p:nvPr/>
        </p:nvSpPr>
        <p:spPr>
          <a:xfrm>
            <a:off x="457200" y="1280160"/>
            <a:ext cx="2651760" cy="411480"/>
          </a:xfrm>
          <a:prstGeom prst="rect">
            <a:avLst/>
          </a:prstGeom>
          <a:solidFill>
            <a:schemeClr val="accent3"/>
          </a:solidFill>
          <a:ln w="12700">
            <a:solidFill>
              <a:schemeClr val="accent3"/>
            </a:solidFill>
            <a:prstDash val="solid"/>
          </a:ln>
        </p:spPr>
      </p:sp>
      <p:sp>
        <p:nvSpPr>
          <p:cNvPr id="6" name="Quote label 1"/>
          <p:cNvSpPr txBox="1"/>
          <p:nvPr/>
        </p:nvSpPr>
        <p:spPr>
          <a:xfrm>
            <a:off x="548640" y="1280160"/>
            <a:ext cx="2468880" cy="411480"/>
          </a:xfrm>
          <a:prstGeom prst="rect">
            <a:avLst/>
          </a:prstGeom>
          <a:noFill/>
          <a:ln/>
        </p:spPr>
        <p:txBody>
          <a:bodyPr wrap="square" lIns="1016" tIns="1016" rIns="1016" bIns="1016" rtlCol="0" anchor="ctr"/>
          <a:lstStyle/>
          <a:p>
            <a:pPr indent="0" marL="0">
              <a:buNone/>
            </a:pPr>
            <a:r>
              <a:rPr lang="en-US" sz="1200" b="1" dirty="0">
                <a:solidFill>
                  <a:schemeClr val="bg1"/>
                </a:solidFill>
              </a:rPr>
              <a:t>ACTUAL UTTERANCE</a:t>
            </a:r>
            <a:endParaRPr lang="en-US" sz="1200" dirty="0"/>
          </a:p>
        </p:txBody>
      </p:sp>
      <p:sp>
        <p:nvSpPr>
          <p:cNvPr id="7" name="Quote body 1"/>
          <p:cNvSpPr txBox="1"/>
          <p:nvPr/>
        </p:nvSpPr>
        <p:spPr>
          <a:xfrm>
            <a:off x="548640" y="1828800"/>
            <a:ext cx="2468880" cy="1737360"/>
          </a:xfrm>
          <a:prstGeom prst="rect">
            <a:avLst/>
          </a:prstGeom>
          <a:noFill/>
          <a:ln/>
        </p:spPr>
        <p:txBody>
          <a:bodyPr wrap="square" lIns="1016" tIns="1016" rIns="1016" bIns="1016" rtlCol="0" anchor="t"/>
          <a:lstStyle/>
          <a:p>
            <a:pPr indent="0" marL="0">
              <a:buNone/>
            </a:pPr>
            <a:r>
              <a:rPr lang="en-US" sz="1500" i="1" dirty="0">
                <a:solidFill>
                  <a:schemeClr val="tx1"/>
                </a:solidFill>
              </a:rPr>
              <a:t>“Now I have all four items, so let me check the cart.”</a:t>
            </a:r>
            <a:endParaRPr lang="en-US" sz="1500" dirty="0"/>
          </a:p>
        </p:txBody>
      </p:sp>
      <p:sp>
        <p:nvSpPr>
          <p:cNvPr id="8" name="Quote card 2"/>
          <p:cNvSpPr/>
          <p:nvPr/>
        </p:nvSpPr>
        <p:spPr>
          <a:xfrm>
            <a:off x="3246120" y="1280160"/>
            <a:ext cx="2651760" cy="2377440"/>
          </a:xfrm>
          <a:prstGeom prst="rect">
            <a:avLst/>
          </a:prstGeom>
          <a:solidFill>
            <a:schemeClr val="bg1"/>
          </a:solidFill>
          <a:ln w="12700">
            <a:solidFill>
              <a:schemeClr val="bg2"/>
            </a:solidFill>
            <a:prstDash val="solid"/>
          </a:ln>
        </p:spPr>
      </p:sp>
      <p:sp>
        <p:nvSpPr>
          <p:cNvPr id="9" name="Quote head 2"/>
          <p:cNvSpPr/>
          <p:nvPr/>
        </p:nvSpPr>
        <p:spPr>
          <a:xfrm>
            <a:off x="3246120" y="1280160"/>
            <a:ext cx="2651760" cy="411480"/>
          </a:xfrm>
          <a:prstGeom prst="rect">
            <a:avLst/>
          </a:prstGeom>
          <a:solidFill>
            <a:schemeClr val="accent5"/>
          </a:solidFill>
          <a:ln w="12700">
            <a:solidFill>
              <a:schemeClr val="accent5"/>
            </a:solidFill>
            <a:prstDash val="solid"/>
          </a:ln>
        </p:spPr>
      </p:sp>
      <p:sp>
        <p:nvSpPr>
          <p:cNvPr id="10" name="Quote label 2"/>
          <p:cNvSpPr txBox="1"/>
          <p:nvPr/>
        </p:nvSpPr>
        <p:spPr>
          <a:xfrm>
            <a:off x="3337560" y="1280160"/>
            <a:ext cx="2468880" cy="411480"/>
          </a:xfrm>
          <a:prstGeom prst="rect">
            <a:avLst/>
          </a:prstGeom>
          <a:noFill/>
          <a:ln/>
        </p:spPr>
        <p:txBody>
          <a:bodyPr wrap="square" lIns="1016" tIns="1016" rIns="1016" bIns="1016" rtlCol="0" anchor="ctr"/>
          <a:lstStyle/>
          <a:p>
            <a:pPr indent="0" marL="0">
              <a:buNone/>
            </a:pPr>
            <a:r>
              <a:rPr lang="en-US" sz="1200" b="1" dirty="0">
                <a:solidFill>
                  <a:schemeClr val="bg1"/>
                </a:solidFill>
              </a:rPr>
              <a:t>InTA (UI only)</a:t>
            </a:r>
            <a:endParaRPr lang="en-US" sz="1200" dirty="0"/>
          </a:p>
        </p:txBody>
      </p:sp>
      <p:sp>
        <p:nvSpPr>
          <p:cNvPr id="11" name="Quote body 2"/>
          <p:cNvSpPr txBox="1"/>
          <p:nvPr/>
        </p:nvSpPr>
        <p:spPr>
          <a:xfrm>
            <a:off x="3337560" y="1828800"/>
            <a:ext cx="2468880" cy="1737360"/>
          </a:xfrm>
          <a:prstGeom prst="rect">
            <a:avLst/>
          </a:prstGeom>
          <a:noFill/>
          <a:ln/>
        </p:spPr>
        <p:txBody>
          <a:bodyPr wrap="square" lIns="1016" tIns="1016" rIns="1016" bIns="1016" rtlCol="0" anchor="t"/>
          <a:lstStyle/>
          <a:p>
            <a:pPr indent="0" marL="0">
              <a:buNone/>
            </a:pPr>
            <a:r>
              <a:rPr lang="en-US" sz="1500" i="1" dirty="0">
                <a:solidFill>
                  <a:schemeClr val="tx1"/>
                </a:solidFill>
              </a:rPr>
              <a:t>“…items complete, I’ll check the budget later.”</a:t>
            </a:r>
            <a:endParaRPr lang="en-US" sz="1500" dirty="0"/>
          </a:p>
        </p:txBody>
      </p:sp>
      <p:sp>
        <p:nvSpPr>
          <p:cNvPr id="12" name="Quote card 3"/>
          <p:cNvSpPr/>
          <p:nvPr/>
        </p:nvSpPr>
        <p:spPr>
          <a:xfrm>
            <a:off x="6035040" y="1280160"/>
            <a:ext cx="2651760" cy="2377440"/>
          </a:xfrm>
          <a:prstGeom prst="rect">
            <a:avLst/>
          </a:prstGeom>
          <a:solidFill>
            <a:schemeClr val="bg1"/>
          </a:solidFill>
          <a:ln w="12700">
            <a:solidFill>
              <a:schemeClr val="bg2"/>
            </a:solidFill>
            <a:prstDash val="solid"/>
          </a:ln>
        </p:spPr>
      </p:sp>
      <p:sp>
        <p:nvSpPr>
          <p:cNvPr id="13" name="Quote head 3"/>
          <p:cNvSpPr/>
          <p:nvPr/>
        </p:nvSpPr>
        <p:spPr>
          <a:xfrm>
            <a:off x="6035040" y="1280160"/>
            <a:ext cx="2651760" cy="411480"/>
          </a:xfrm>
          <a:prstGeom prst="rect">
            <a:avLst/>
          </a:prstGeom>
          <a:solidFill>
            <a:schemeClr val="accent1"/>
          </a:solidFill>
          <a:ln w="12700">
            <a:solidFill>
              <a:schemeClr val="accent1"/>
            </a:solidFill>
            <a:prstDash val="solid"/>
          </a:ln>
        </p:spPr>
      </p:sp>
      <p:sp>
        <p:nvSpPr>
          <p:cNvPr id="14" name="Quote label 3"/>
          <p:cNvSpPr txBox="1"/>
          <p:nvPr/>
        </p:nvSpPr>
        <p:spPr>
          <a:xfrm>
            <a:off x="6126480" y="1280160"/>
            <a:ext cx="2468880" cy="411480"/>
          </a:xfrm>
          <a:prstGeom prst="rect">
            <a:avLst/>
          </a:prstGeom>
          <a:noFill/>
          <a:ln/>
        </p:spPr>
        <p:txBody>
          <a:bodyPr wrap="square" lIns="1016" tIns="1016" rIns="1016" bIns="1016" rtlCol="0" anchor="ctr"/>
          <a:lstStyle/>
          <a:p>
            <a:pPr indent="0" marL="0">
              <a:buNone/>
            </a:pPr>
            <a:r>
              <a:rPr lang="en-US" sz="1200" b="1" dirty="0">
                <a:solidFill>
                  <a:schemeClr val="bg1"/>
                </a:solidFill>
              </a:rPr>
              <a:t>EsTA (gaze + UI)</a:t>
            </a:r>
            <a:endParaRPr lang="en-US" sz="1200" dirty="0"/>
          </a:p>
        </p:txBody>
      </p:sp>
      <p:sp>
        <p:nvSpPr>
          <p:cNvPr id="15" name="Quote body 3"/>
          <p:cNvSpPr txBox="1"/>
          <p:nvPr/>
        </p:nvSpPr>
        <p:spPr>
          <a:xfrm>
            <a:off x="6126480" y="1828800"/>
            <a:ext cx="2468880" cy="1737360"/>
          </a:xfrm>
          <a:prstGeom prst="rect">
            <a:avLst/>
          </a:prstGeom>
          <a:noFill/>
          <a:ln/>
        </p:spPr>
        <p:txBody>
          <a:bodyPr wrap="square" lIns="1016" tIns="1016" rIns="1016" bIns="1016" rtlCol="0" anchor="t"/>
          <a:lstStyle/>
          <a:p>
            <a:pPr indent="0" marL="0">
              <a:buNone/>
            </a:pPr>
            <a:r>
              <a:rPr lang="en-US" sz="1500" i="1" dirty="0">
                <a:solidFill>
                  <a:schemeClr val="tx1"/>
                </a:solidFill>
              </a:rPr>
              <a:t>“…¥12,400, plus ¥500 shipping makes ¥12,900, within the ¥14,000 budget.”</a:t>
            </a:r>
            <a:endParaRPr lang="en-US" sz="1500" dirty="0"/>
          </a:p>
        </p:txBody>
      </p:sp>
      <p:sp>
        <p:nvSpPr>
          <p:cNvPr id="16" name="Takeaway"/>
          <p:cNvSpPr/>
          <p:nvPr/>
        </p:nvSpPr>
        <p:spPr>
          <a:xfrm>
            <a:off x="457200" y="3840480"/>
            <a:ext cx="8229600" cy="457200"/>
          </a:xfrm>
          <a:prstGeom prst="rect">
            <a:avLst/>
          </a:prstGeom>
          <a:solidFill>
            <a:schemeClr val="accent6"/>
          </a:solidFill>
          <a:ln w="12700">
            <a:solidFill>
              <a:schemeClr val="bg2"/>
            </a:solidFill>
            <a:prstDash val="solid"/>
          </a:ln>
        </p:spPr>
      </p:sp>
      <p:sp>
        <p:nvSpPr>
          <p:cNvPr id="17" name="Takeaway text"/>
          <p:cNvSpPr txBox="1"/>
          <p:nvPr/>
        </p:nvSpPr>
        <p:spPr>
          <a:xfrm>
            <a:off x="548640" y="3840480"/>
            <a:ext cx="8046720" cy="457200"/>
          </a:xfrm>
          <a:prstGeom prst="rect">
            <a:avLst/>
          </a:prstGeom>
          <a:noFill/>
          <a:ln/>
        </p:spPr>
        <p:txBody>
          <a:bodyPr wrap="square" lIns="1016" tIns="1016" rIns="1016" bIns="1016" rtlCol="0" anchor="ctr"/>
          <a:lstStyle/>
          <a:p>
            <a:pPr indent="0" marL="0">
              <a:buNone/>
            </a:pPr>
            <a:r>
              <a:rPr lang="en-US" sz="1400" b="1" dirty="0">
                <a:solidFill>
                  <a:schemeClr val="tx2"/>
                </a:solidFill>
              </a:rPr>
              <a:t>Gaze moving through the prices matched the unspoken budget check.</a:t>
            </a:r>
            <a:endParaRPr lang="en-US" sz="1400" dirty="0"/>
          </a:p>
        </p:txBody>
      </p:sp>
      <p:sp>
        <p:nvSpPr>
          <p:cNvPr id="18" name="Venue"/>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000" dirty="0">
                <a:solidFill>
                  <a:schemeClr val="accent3"/>
                </a:solidFill>
              </a:rPr>
              <a:t>Presented at the Japan Ergonomics Society Kanto Branch, Dec 2025. Excerpts translated from Japanese.</a:t>
            </a:r>
            <a:endParaRPr lang="en-US" sz="10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2200" b="1" dirty="0">
                <a:solidFill>
                  <a:schemeClr val="tx2"/>
                </a:solidFill>
                <a:latin typeface="Georgia" pitchFamily="34" charset="0"/>
                <a:ea typeface="Georgia" pitchFamily="34" charset="-122"/>
                <a:cs typeface="Georgia" pitchFamily="34" charset="-120"/>
              </a:rPr>
              <a:t>Bridge: from “saying too much” to a measurable goal</a:t>
            </a:r>
            <a:endParaRPr lang="en-US" sz="2200" dirty="0"/>
          </a:p>
        </p:txBody>
      </p:sp>
      <p:sp>
        <p:nvSpPr>
          <p:cNvPr id="4" name="Challenge 1"/>
          <p:cNvSpPr/>
          <p:nvPr/>
        </p:nvSpPr>
        <p:spPr>
          <a:xfrm>
            <a:off x="457200" y="1280160"/>
            <a:ext cx="3291840" cy="1325880"/>
          </a:xfrm>
          <a:prstGeom prst="rect">
            <a:avLst/>
          </a:prstGeom>
          <a:solidFill>
            <a:schemeClr val="bg1"/>
          </a:solidFill>
          <a:ln w="12700">
            <a:solidFill>
              <a:schemeClr val="bg2"/>
            </a:solidFill>
            <a:prstDash val="solid"/>
          </a:ln>
        </p:spPr>
      </p:sp>
      <p:sp>
        <p:nvSpPr>
          <p:cNvPr id="5" name="Challenge 1 text"/>
          <p:cNvSpPr txBox="1"/>
          <p:nvPr/>
        </p:nvSpPr>
        <p:spPr>
          <a:xfrm>
            <a:off x="548640" y="1325880"/>
            <a:ext cx="3108960" cy="1234440"/>
          </a:xfrm>
          <a:prstGeom prst="rect">
            <a:avLst/>
          </a:prstGeom>
          <a:noFill/>
          <a:ln/>
        </p:spPr>
        <p:txBody>
          <a:bodyPr wrap="square" lIns="1016" tIns="1016" rIns="1016" bIns="1016" rtlCol="0" anchor="ctr"/>
          <a:lstStyle/>
          <a:p>
            <a:pPr indent="0" marL="0">
              <a:buNone/>
            </a:pPr>
            <a:r>
              <a:rPr lang="en-US" sz="1200" b="1" dirty="0">
                <a:solidFill>
                  <a:schemeClr val="accent4"/>
                </a:solidFill>
              </a:rPr>
              <a:t>Challenge 1</a:t>
            </a:r>
            <a:endParaRPr lang="en-US" sz="1300" dirty="0"/>
          </a:p>
          <a:p>
            <a:pPr indent="0" marL="0">
              <a:buNone/>
            </a:pPr>
            <a:r>
              <a:rPr lang="en-US" sz="2000" b="1" dirty="0">
                <a:solidFill>
                  <a:schemeClr val="tx1"/>
                </a:solidFill>
              </a:rPr>
              <a:t>Overstatement</a:t>
            </a:r>
            <a:endParaRPr lang="en-US" sz="1300" dirty="0"/>
          </a:p>
          <a:p>
            <a:pPr indent="0" marL="0">
              <a:buNone/>
            </a:pPr>
            <a:r>
              <a:rPr lang="en-US" sz="1300" dirty="0">
                <a:solidFill>
                  <a:schemeClr val="tx1"/>
                </a:solidFill>
              </a:rPr>
              <a:t>The model sometimes says too much.</a:t>
            </a:r>
            <a:endParaRPr lang="en-US" sz="1300" dirty="0"/>
          </a:p>
        </p:txBody>
      </p:sp>
      <p:sp>
        <p:nvSpPr>
          <p:cNvPr id="6" name="Challenge 2"/>
          <p:cNvSpPr/>
          <p:nvPr/>
        </p:nvSpPr>
        <p:spPr>
          <a:xfrm>
            <a:off x="457200" y="2834640"/>
            <a:ext cx="3291840" cy="1325880"/>
          </a:xfrm>
          <a:prstGeom prst="rect">
            <a:avLst/>
          </a:prstGeom>
          <a:solidFill>
            <a:schemeClr val="bg1"/>
          </a:solidFill>
          <a:ln w="12700">
            <a:solidFill>
              <a:schemeClr val="bg2"/>
            </a:solidFill>
            <a:prstDash val="solid"/>
          </a:ln>
        </p:spPr>
      </p:sp>
      <p:sp>
        <p:nvSpPr>
          <p:cNvPr id="7" name="Challenge 2 text"/>
          <p:cNvSpPr txBox="1"/>
          <p:nvPr/>
        </p:nvSpPr>
        <p:spPr>
          <a:xfrm>
            <a:off x="548640" y="2880360"/>
            <a:ext cx="3108960" cy="1234440"/>
          </a:xfrm>
          <a:prstGeom prst="rect">
            <a:avLst/>
          </a:prstGeom>
          <a:noFill/>
          <a:ln/>
        </p:spPr>
        <p:txBody>
          <a:bodyPr wrap="square" lIns="1016" tIns="1016" rIns="1016" bIns="1016" rtlCol="0" anchor="ctr"/>
          <a:lstStyle/>
          <a:p>
            <a:pPr indent="0" marL="0">
              <a:buNone/>
            </a:pPr>
            <a:r>
              <a:rPr lang="en-US" sz="1200" b="1" dirty="0">
                <a:solidFill>
                  <a:schemeClr val="accent4"/>
                </a:solidFill>
              </a:rPr>
              <a:t>Challenge 2</a:t>
            </a:r>
            <a:endParaRPr lang="en-US" sz="1300" dirty="0"/>
          </a:p>
          <a:p>
            <a:pPr indent="0" marL="0">
              <a:buNone/>
            </a:pPr>
            <a:r>
              <a:rPr lang="en-US" sz="2000" b="1" dirty="0">
                <a:solidFill>
                  <a:schemeClr val="tx1"/>
                </a:solidFill>
              </a:rPr>
              <a:t>Time order</a:t>
            </a:r>
            <a:endParaRPr lang="en-US" sz="1300" dirty="0"/>
          </a:p>
          <a:p>
            <a:pPr indent="0" marL="0">
              <a:buNone/>
            </a:pPr>
            <a:r>
              <a:rPr lang="en-US" sz="1300" dirty="0">
                <a:solidFill>
                  <a:schemeClr val="tx1"/>
                </a:solidFill>
              </a:rPr>
              <a:t>Weakly handled in the thesis.</a:t>
            </a:r>
            <a:endParaRPr lang="en-US" sz="1300" dirty="0"/>
          </a:p>
        </p:txBody>
      </p:sp>
      <p:sp>
        <p:nvSpPr>
          <p:cNvPr id="8" name="Bridge arrow"/>
          <p:cNvSpPr/>
          <p:nvPr/>
        </p:nvSpPr>
        <p:spPr>
          <a:xfrm>
            <a:off x="3931920" y="2606040"/>
            <a:ext cx="548640" cy="274320"/>
          </a:xfrm>
          <a:prstGeom prst="rightArrow">
            <a:avLst/>
          </a:prstGeom>
          <a:solidFill>
            <a:schemeClr val="accent3"/>
          </a:solidFill>
          <a:ln w="12700">
            <a:solidFill>
              <a:schemeClr val="accent3"/>
            </a:solidFill>
            <a:prstDash val="solid"/>
          </a:ln>
        </p:spPr>
      </p:sp>
      <p:sp>
        <p:nvSpPr>
          <p:cNvPr id="9" name="New goal"/>
          <p:cNvSpPr/>
          <p:nvPr/>
        </p:nvSpPr>
        <p:spPr>
          <a:xfrm>
            <a:off x="4663440" y="1280160"/>
            <a:ext cx="4023360" cy="1325880"/>
          </a:xfrm>
          <a:prstGeom prst="rect">
            <a:avLst/>
          </a:prstGeom>
          <a:solidFill>
            <a:schemeClr val="accent1"/>
          </a:solidFill>
          <a:ln w="12700">
            <a:solidFill>
              <a:schemeClr val="bg2"/>
            </a:solidFill>
            <a:prstDash val="solid"/>
          </a:ln>
        </p:spPr>
      </p:sp>
      <p:sp>
        <p:nvSpPr>
          <p:cNvPr id="10" name="New goal text"/>
          <p:cNvSpPr txBox="1"/>
          <p:nvPr/>
        </p:nvSpPr>
        <p:spPr>
          <a:xfrm>
            <a:off x="4754880" y="1325880"/>
            <a:ext cx="3840480" cy="1234440"/>
          </a:xfrm>
          <a:prstGeom prst="rect">
            <a:avLst/>
          </a:prstGeom>
          <a:noFill/>
          <a:ln/>
        </p:spPr>
        <p:txBody>
          <a:bodyPr wrap="square" lIns="1016" tIns="1016" rIns="1016" bIns="1016" rtlCol="0" anchor="ctr"/>
          <a:lstStyle/>
          <a:p>
            <a:pPr indent="0" marL="0">
              <a:buNone/>
            </a:pPr>
            <a:r>
              <a:rPr lang="en-US" sz="1200" b="1" dirty="0">
                <a:solidFill>
                  <a:schemeClr val="accent6"/>
                </a:solidFill>
              </a:rPr>
              <a:t>New goal</a:t>
            </a:r>
            <a:endParaRPr lang="en-US" sz="1300" dirty="0"/>
          </a:p>
          <a:p>
            <a:pPr indent="0" marL="0">
              <a:buNone/>
            </a:pPr>
            <a:r>
              <a:rPr lang="en-US" sz="1800" b="1" dirty="0">
                <a:solidFill>
                  <a:schemeClr val="bg1"/>
                </a:solidFill>
              </a:rPr>
              <a:t>Explain what users struggle with</a:t>
            </a:r>
            <a:endParaRPr lang="en-US" sz="1300" dirty="0"/>
          </a:p>
          <a:p>
            <a:pPr indent="0" marL="0">
              <a:buNone/>
            </a:pPr>
            <a:r>
              <a:rPr lang="en-US" sz="1300" dirty="0">
                <a:solidFill>
                  <a:schemeClr val="bg1"/>
                </a:solidFill>
              </a:rPr>
              <a:t>where, when and why</a:t>
            </a:r>
            <a:endParaRPr lang="en-US" sz="1300" dirty="0"/>
          </a:p>
        </p:txBody>
      </p:sp>
      <p:sp>
        <p:nvSpPr>
          <p:cNvPr id="11" name="New evaluation"/>
          <p:cNvSpPr/>
          <p:nvPr/>
        </p:nvSpPr>
        <p:spPr>
          <a:xfrm>
            <a:off x="4663440" y="2834640"/>
            <a:ext cx="4023360" cy="1325880"/>
          </a:xfrm>
          <a:prstGeom prst="rect">
            <a:avLst/>
          </a:prstGeom>
          <a:solidFill>
            <a:schemeClr val="accent2"/>
          </a:solidFill>
          <a:ln w="12700">
            <a:solidFill>
              <a:schemeClr val="bg2"/>
            </a:solidFill>
            <a:prstDash val="solid"/>
          </a:ln>
        </p:spPr>
      </p:sp>
      <p:sp>
        <p:nvSpPr>
          <p:cNvPr id="12" name="New evaluation text"/>
          <p:cNvSpPr txBox="1"/>
          <p:nvPr/>
        </p:nvSpPr>
        <p:spPr>
          <a:xfrm>
            <a:off x="4754880" y="2880360"/>
            <a:ext cx="3840480" cy="1234440"/>
          </a:xfrm>
          <a:prstGeom prst="rect">
            <a:avLst/>
          </a:prstGeom>
          <a:noFill/>
          <a:ln/>
        </p:spPr>
        <p:txBody>
          <a:bodyPr wrap="square" lIns="1016" tIns="1016" rIns="1016" bIns="1016" rtlCol="0" anchor="ctr"/>
          <a:lstStyle/>
          <a:p>
            <a:pPr indent="0" marL="0">
              <a:buNone/>
            </a:pPr>
            <a:r>
              <a:rPr lang="en-US" sz="1200" b="1" dirty="0">
                <a:solidFill>
                  <a:schemeClr val="tx2"/>
                </a:solidFill>
              </a:rPr>
              <a:t>New evaluation</a:t>
            </a:r>
            <a:endParaRPr lang="en-US" sz="1300" dirty="0"/>
          </a:p>
          <a:p>
            <a:pPr indent="0" marL="0">
              <a:buNone/>
            </a:pPr>
            <a:r>
              <a:rPr lang="en-US" sz="1800" b="1" dirty="0">
                <a:solidFill>
                  <a:schemeClr val="tx2"/>
                </a:solidFill>
              </a:rPr>
              <a:t>Check against human key points</a:t>
            </a:r>
            <a:endParaRPr lang="en-US" sz="1300" dirty="0"/>
          </a:p>
          <a:p>
            <a:pPr indent="0" marL="0">
              <a:buNone/>
            </a:pPr>
            <a:r>
              <a:rPr lang="en-US" sz="1300" dirty="0">
                <a:solidFill>
                  <a:schemeClr val="tx2"/>
                </a:solidFill>
              </a:rPr>
              <a:t>“Saying too much” → over-claim rate</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2200" b="1" dirty="0">
                <a:solidFill>
                  <a:schemeClr val="tx2"/>
                </a:solidFill>
                <a:latin typeface="Georgia" pitchFamily="34" charset="0"/>
                <a:ea typeface="Georgia" pitchFamily="34" charset="-122"/>
                <a:cs typeface="Georgia" pitchFamily="34" charset="-120"/>
              </a:rPr>
              <a:t>Master's (1/3): a tool that explains, checked against humans</a:t>
            </a:r>
            <a:endParaRPr lang="en-US" sz="2200" dirty="0"/>
          </a:p>
        </p:txBody>
      </p:sp>
      <p:sp>
        <p:nvSpPr>
          <p:cNvPr id="4" name="Input gaze"/>
          <p:cNvSpPr/>
          <p:nvPr/>
        </p:nvSpPr>
        <p:spPr>
          <a:xfrm>
            <a:off x="457200" y="1234440"/>
            <a:ext cx="2377440" cy="1051560"/>
          </a:xfrm>
          <a:prstGeom prst="rect">
            <a:avLst/>
          </a:prstGeom>
          <a:solidFill>
            <a:schemeClr val="accent6"/>
          </a:solidFill>
          <a:ln w="12700">
            <a:solidFill>
              <a:schemeClr val="bg2"/>
            </a:solidFill>
            <a:prstDash val="solid"/>
          </a:ln>
        </p:spPr>
      </p:sp>
      <p:sp>
        <p:nvSpPr>
          <p:cNvPr id="5" name="Input gaze text"/>
          <p:cNvSpPr txBox="1"/>
          <p:nvPr/>
        </p:nvSpPr>
        <p:spPr>
          <a:xfrm>
            <a:off x="502920" y="1261872"/>
            <a:ext cx="2286000" cy="1005840"/>
          </a:xfrm>
          <a:prstGeom prst="rect">
            <a:avLst/>
          </a:prstGeom>
          <a:noFill/>
          <a:ln/>
        </p:spPr>
        <p:txBody>
          <a:bodyPr wrap="square" lIns="1016" tIns="1016" rIns="1016" bIns="1016" rtlCol="0" anchor="ctr"/>
          <a:lstStyle/>
          <a:p>
            <a:pPr indent="0" marL="0">
              <a:buNone/>
            </a:pPr>
            <a:r>
              <a:rPr lang="en-US" sz="1300" b="1" dirty="0">
                <a:solidFill>
                  <a:schemeClr val="tx1"/>
                </a:solidFill>
              </a:rPr>
              <a:t>Gaze metrics</a:t>
            </a:r>
            <a:endParaRPr lang="en-US" sz="1300" dirty="0"/>
          </a:p>
          <a:p>
            <a:pPr indent="0" marL="0">
              <a:buNone/>
            </a:pPr>
            <a:r>
              <a:rPr lang="en-US" sz="1100" dirty="0">
                <a:solidFill>
                  <a:schemeClr val="tx1"/>
                </a:solidFill>
              </a:rPr>
              <a:t>dwell time · visits, per technique, Good vs. Bad</a:t>
            </a:r>
            <a:endParaRPr lang="en-US" sz="1300" dirty="0"/>
          </a:p>
        </p:txBody>
      </p:sp>
      <p:sp>
        <p:nvSpPr>
          <p:cNvPr id="6" name="Input UI"/>
          <p:cNvSpPr/>
          <p:nvPr/>
        </p:nvSpPr>
        <p:spPr>
          <a:xfrm>
            <a:off x="457200" y="2468880"/>
            <a:ext cx="2377440" cy="1051560"/>
          </a:xfrm>
          <a:prstGeom prst="rect">
            <a:avLst/>
          </a:prstGeom>
          <a:solidFill>
            <a:schemeClr val="accent6"/>
          </a:solidFill>
          <a:ln w="12700">
            <a:solidFill>
              <a:schemeClr val="bg2"/>
            </a:solidFill>
            <a:prstDash val="solid"/>
          </a:ln>
        </p:spPr>
      </p:sp>
      <p:sp>
        <p:nvSpPr>
          <p:cNvPr id="7" name="Input UI text"/>
          <p:cNvSpPr txBox="1"/>
          <p:nvPr/>
        </p:nvSpPr>
        <p:spPr>
          <a:xfrm>
            <a:off x="502920" y="2496312"/>
            <a:ext cx="2286000" cy="1005840"/>
          </a:xfrm>
          <a:prstGeom prst="rect">
            <a:avLst/>
          </a:prstGeom>
          <a:noFill/>
          <a:ln/>
        </p:spPr>
        <p:txBody>
          <a:bodyPr wrap="square" lIns="1016" tIns="1016" rIns="1016" bIns="1016" rtlCol="0" anchor="ctr"/>
          <a:lstStyle/>
          <a:p>
            <a:pPr indent="0" marL="0">
              <a:buNone/>
            </a:pPr>
            <a:r>
              <a:rPr lang="en-US" sz="1300" b="1" dirty="0">
                <a:solidFill>
                  <a:schemeClr val="tx1"/>
                </a:solidFill>
              </a:rPr>
              <a:t>UI structure</a:t>
            </a:r>
            <a:endParaRPr lang="en-US" sz="1300" dirty="0"/>
          </a:p>
          <a:p>
            <a:pPr indent="0" marL="0">
              <a:buNone/>
            </a:pPr>
            <a:r>
              <a:rPr lang="en-US" sz="1100" dirty="0">
                <a:solidFill>
                  <a:schemeClr val="tx1"/>
                </a:solidFill>
              </a:rPr>
              <a:t>screen ↔ technique · HTML/CSS · task</a:t>
            </a:r>
            <a:endParaRPr lang="en-US" sz="1300" dirty="0"/>
          </a:p>
        </p:txBody>
      </p:sp>
      <p:sp>
        <p:nvSpPr>
          <p:cNvPr id="8" name="Arrow 1"/>
          <p:cNvSpPr/>
          <p:nvPr/>
        </p:nvSpPr>
        <p:spPr>
          <a:xfrm>
            <a:off x="2926080" y="2286000"/>
            <a:ext cx="320040" cy="274320"/>
          </a:xfrm>
          <a:prstGeom prst="rightArrow">
            <a:avLst/>
          </a:prstGeom>
          <a:solidFill>
            <a:schemeClr val="accent3"/>
          </a:solidFill>
          <a:ln w="12700">
            <a:solidFill>
              <a:schemeClr val="accent3"/>
            </a:solidFill>
            <a:prstDash val="solid"/>
          </a:ln>
        </p:spPr>
      </p:sp>
      <p:sp>
        <p:nvSpPr>
          <p:cNvPr id="9" name="LLM"/>
          <p:cNvSpPr/>
          <p:nvPr/>
        </p:nvSpPr>
        <p:spPr>
          <a:xfrm>
            <a:off x="3337560" y="1737360"/>
            <a:ext cx="1188720" cy="1188720"/>
          </a:xfrm>
          <a:prstGeom prst="rect">
            <a:avLst/>
          </a:prstGeom>
          <a:solidFill>
            <a:schemeClr val="tx2"/>
          </a:solidFill>
          <a:ln w="12700">
            <a:solidFill>
              <a:schemeClr val="bg2"/>
            </a:solidFill>
            <a:prstDash val="solid"/>
          </a:ln>
        </p:spPr>
      </p:sp>
      <p:sp>
        <p:nvSpPr>
          <p:cNvPr id="10" name="LLM text"/>
          <p:cNvSpPr txBox="1"/>
          <p:nvPr/>
        </p:nvSpPr>
        <p:spPr>
          <a:xfrm>
            <a:off x="3337560" y="1737360"/>
            <a:ext cx="1188720" cy="1188720"/>
          </a:xfrm>
          <a:prstGeom prst="rect">
            <a:avLst/>
          </a:prstGeom>
          <a:noFill/>
          <a:ln/>
        </p:spPr>
        <p:txBody>
          <a:bodyPr wrap="square" lIns="1016" tIns="1016" rIns="1016" bIns="1016" rtlCol="0" anchor="ctr"/>
          <a:lstStyle/>
          <a:p>
            <a:pPr algn="ctr" indent="0" marL="0">
              <a:buNone/>
            </a:pPr>
            <a:r>
              <a:rPr lang="en-US" sz="2200" b="1" dirty="0">
                <a:solidFill>
                  <a:schemeClr val="bg1"/>
                </a:solidFill>
                <a:latin typeface="Georgia" pitchFamily="34" charset="0"/>
                <a:ea typeface="Georgia" pitchFamily="34" charset="-122"/>
                <a:cs typeface="Georgia" pitchFamily="34" charset="-120"/>
              </a:rPr>
              <a:t>LLM</a:t>
            </a:r>
            <a:endParaRPr lang="en-US" sz="2200" dirty="0"/>
          </a:p>
        </p:txBody>
      </p:sp>
      <p:sp>
        <p:nvSpPr>
          <p:cNvPr id="11" name="Arrow 2"/>
          <p:cNvSpPr/>
          <p:nvPr/>
        </p:nvSpPr>
        <p:spPr>
          <a:xfrm>
            <a:off x="4617720" y="2194560"/>
            <a:ext cx="320040" cy="274320"/>
          </a:xfrm>
          <a:prstGeom prst="rightArrow">
            <a:avLst/>
          </a:prstGeom>
          <a:solidFill>
            <a:schemeClr val="accent3"/>
          </a:solidFill>
          <a:ln w="12700">
            <a:solidFill>
              <a:schemeClr val="accent3"/>
            </a:solidFill>
            <a:prstDash val="solid"/>
          </a:ln>
        </p:spPr>
      </p:sp>
      <p:sp>
        <p:nvSpPr>
          <p:cNvPr id="12" name="Output"/>
          <p:cNvSpPr/>
          <p:nvPr/>
        </p:nvSpPr>
        <p:spPr>
          <a:xfrm>
            <a:off x="5029200" y="1234440"/>
            <a:ext cx="2011680" cy="2286000"/>
          </a:xfrm>
          <a:prstGeom prst="rect">
            <a:avLst/>
          </a:prstGeom>
          <a:solidFill>
            <a:schemeClr val="accent2"/>
          </a:solidFill>
          <a:ln w="12700">
            <a:solidFill>
              <a:schemeClr val="bg2"/>
            </a:solidFill>
            <a:prstDash val="solid"/>
          </a:ln>
        </p:spPr>
      </p:sp>
      <p:sp>
        <p:nvSpPr>
          <p:cNvPr id="13" name="Output text"/>
          <p:cNvSpPr txBox="1"/>
          <p:nvPr/>
        </p:nvSpPr>
        <p:spPr>
          <a:xfrm>
            <a:off x="5074920" y="1280160"/>
            <a:ext cx="1920240" cy="2194560"/>
          </a:xfrm>
          <a:prstGeom prst="rect">
            <a:avLst/>
          </a:prstGeom>
          <a:noFill/>
          <a:ln/>
        </p:spPr>
        <p:txBody>
          <a:bodyPr wrap="square" lIns="1016" tIns="1016" rIns="1016" bIns="1016" rtlCol="0" anchor="ctr"/>
          <a:lstStyle/>
          <a:p>
            <a:pPr indent="0" marL="0">
              <a:buNone/>
            </a:pPr>
            <a:r>
              <a:rPr lang="en-US" sz="1300" b="1" dirty="0">
                <a:solidFill>
                  <a:schemeClr val="tx2"/>
                </a:solidFill>
              </a:rPr>
              <a:t>Output</a:t>
            </a:r>
            <a:endParaRPr lang="en-US" sz="1300" dirty="0"/>
          </a:p>
          <a:p>
            <a:pPr indent="0" marL="0">
              <a:buNone/>
            </a:pPr>
            <a:r>
              <a:rPr lang="en-US" sz="1200" dirty="0">
                <a:solidFill>
                  <a:schemeClr val="tx2"/>
                </a:solidFill>
              </a:rPr>
              <a:t>Per technique: which element, which screen, why it caused trouble</a:t>
            </a:r>
            <a:endParaRPr lang="en-US" sz="1300" dirty="0"/>
          </a:p>
          <a:p>
            <a:pPr indent="0" marL="0">
              <a:buNone/>
            </a:pPr>
            <a:r>
              <a:rPr lang="en-US" sz="1200" dirty="0">
                <a:solidFill>
                  <a:schemeClr val="tx2"/>
                </a:solidFill>
              </a:rPr>
              <a:t>+ summary</a:t>
            </a:r>
            <a:endParaRPr lang="en-US" sz="1300" dirty="0"/>
          </a:p>
          <a:p>
            <a:pPr indent="0" marL="0">
              <a:buNone/>
            </a:pPr>
            <a:r>
              <a:rPr lang="en-US" sz="1200" dirty="0">
                <a:solidFill>
                  <a:schemeClr val="tx2"/>
                </a:solidFill>
              </a:rPr>
              <a:t>+ suggestions</a:t>
            </a:r>
            <a:endParaRPr lang="en-US" sz="1300" dirty="0"/>
          </a:p>
        </p:txBody>
      </p:sp>
      <p:sp>
        <p:nvSpPr>
          <p:cNvPr id="14" name="Arrow 3"/>
          <p:cNvSpPr/>
          <p:nvPr/>
        </p:nvSpPr>
        <p:spPr>
          <a:xfrm>
            <a:off x="7132320" y="2194560"/>
            <a:ext cx="320040" cy="274320"/>
          </a:xfrm>
          <a:prstGeom prst="rightArrow">
            <a:avLst/>
          </a:prstGeom>
          <a:solidFill>
            <a:schemeClr val="accent3"/>
          </a:solidFill>
          <a:ln w="12700">
            <a:solidFill>
              <a:schemeClr val="accent3"/>
            </a:solidFill>
            <a:prstDash val="solid"/>
          </a:ln>
        </p:spPr>
      </p:sp>
      <p:sp>
        <p:nvSpPr>
          <p:cNvPr id="15" name="Human key points"/>
          <p:cNvSpPr/>
          <p:nvPr/>
        </p:nvSpPr>
        <p:spPr>
          <a:xfrm>
            <a:off x="7543800" y="1234440"/>
            <a:ext cx="1143000" cy="2286000"/>
          </a:xfrm>
          <a:prstGeom prst="rect">
            <a:avLst/>
          </a:prstGeom>
          <a:solidFill>
            <a:schemeClr val="bg1"/>
          </a:solidFill>
          <a:ln w="12700">
            <a:solidFill>
              <a:schemeClr val="accent4"/>
            </a:solidFill>
            <a:prstDash val="solid"/>
          </a:ln>
        </p:spPr>
      </p:sp>
      <p:sp>
        <p:nvSpPr>
          <p:cNvPr id="16" name="Human key points text"/>
          <p:cNvSpPr txBox="1"/>
          <p:nvPr/>
        </p:nvSpPr>
        <p:spPr>
          <a:xfrm>
            <a:off x="7571232" y="1280160"/>
            <a:ext cx="1097280" cy="2194560"/>
          </a:xfrm>
          <a:prstGeom prst="rect">
            <a:avLst/>
          </a:prstGeom>
          <a:noFill/>
          <a:ln/>
        </p:spPr>
        <p:txBody>
          <a:bodyPr wrap="square" lIns="1016" tIns="1016" rIns="1016" bIns="1016" rtlCol="0" anchor="ctr"/>
          <a:lstStyle/>
          <a:p>
            <a:pPr algn="ctr" indent="0" marL="0">
              <a:buNone/>
            </a:pPr>
            <a:r>
              <a:rPr lang="en-US" sz="1200" b="1" dirty="0">
                <a:solidFill>
                  <a:schemeClr val="tx1"/>
                </a:solidFill>
              </a:rPr>
              <a:t>Human key points</a:t>
            </a:r>
            <a:endParaRPr lang="en-US" sz="1200" dirty="0"/>
          </a:p>
          <a:p>
            <a:pPr algn="ctr" indent="0" marL="0">
              <a:buNone/>
            </a:pPr>
            <a:r>
              <a:rPr lang="en-US" sz="1100" dirty="0">
                <a:solidFill>
                  <a:schemeClr val="tx1"/>
                </a:solidFill>
              </a:rPr>
              <a:t>Where</a:t>
            </a:r>
            <a:endParaRPr lang="en-US" sz="1200" dirty="0"/>
          </a:p>
          <a:p>
            <a:pPr algn="ctr" indent="0" marL="0">
              <a:buNone/>
            </a:pPr>
            <a:r>
              <a:rPr lang="en-US" sz="1100" dirty="0">
                <a:solidFill>
                  <a:schemeClr val="tx1"/>
                </a:solidFill>
              </a:rPr>
              <a:t>When</a:t>
            </a:r>
            <a:endParaRPr lang="en-US" sz="1200" dirty="0"/>
          </a:p>
          <a:p>
            <a:pPr algn="ctr" indent="0" marL="0">
              <a:buNone/>
            </a:pPr>
            <a:r>
              <a:rPr lang="en-US" sz="1100" dirty="0">
                <a:solidFill>
                  <a:schemeClr val="tx1"/>
                </a:solidFill>
              </a:rPr>
              <a:t>Why</a:t>
            </a:r>
            <a:endParaRPr lang="en-US" sz="1200" dirty="0"/>
          </a:p>
        </p:txBody>
      </p:sp>
      <p:sp>
        <p:nvSpPr>
          <p:cNvPr id="17" name="Metrics strip"/>
          <p:cNvSpPr/>
          <p:nvPr/>
        </p:nvSpPr>
        <p:spPr>
          <a:xfrm>
            <a:off x="457200" y="3749040"/>
            <a:ext cx="8229600" cy="777240"/>
          </a:xfrm>
          <a:prstGeom prst="rect">
            <a:avLst/>
          </a:prstGeom>
          <a:solidFill>
            <a:schemeClr val="bg1"/>
          </a:solidFill>
          <a:ln w="12700">
            <a:solidFill>
              <a:schemeClr val="bg2"/>
            </a:solidFill>
            <a:prstDash val="solid"/>
          </a:ln>
        </p:spPr>
      </p:sp>
      <p:sp>
        <p:nvSpPr>
          <p:cNvPr id="18" name="Metrics text"/>
          <p:cNvSpPr txBox="1"/>
          <p:nvPr/>
        </p:nvSpPr>
        <p:spPr>
          <a:xfrm>
            <a:off x="594360" y="3767328"/>
            <a:ext cx="7955280" cy="731520"/>
          </a:xfrm>
          <a:prstGeom prst="rect">
            <a:avLst/>
          </a:prstGeom>
          <a:noFill/>
          <a:ln/>
        </p:spPr>
        <p:txBody>
          <a:bodyPr wrap="square" lIns="1016" tIns="1016" rIns="1016" bIns="1016" rtlCol="0" anchor="ctr"/>
          <a:lstStyle/>
          <a:p>
            <a:pPr indent="0" marL="0">
              <a:buNone/>
            </a:pPr>
            <a:r>
              <a:rPr lang="en-US" sz="1400" b="1" dirty="0">
                <a:solidFill>
                  <a:schemeClr val="accent1"/>
                </a:solidFill>
              </a:rPr>
              <a:t>Metrics: </a:t>
            </a:r>
            <a:pPr indent="0" marL="0">
              <a:buNone/>
            </a:pPr>
            <a:r>
              <a:rPr lang="en-US" sz="1400" dirty="0">
                <a:solidFill>
                  <a:schemeClr val="tx1"/>
                </a:solidFill>
              </a:rPr>
              <a:t>recall, and over-claim rate.  </a:t>
            </a:r>
            <a:pPr indent="0" marL="0">
              <a:buNone/>
            </a:pPr>
            <a:r>
              <a:rPr lang="en-US" sz="1400" b="1" dirty="0">
                <a:solidFill>
                  <a:schemeClr val="accent4"/>
                </a:solidFill>
              </a:rPr>
              <a:t>Key points are never given to the LLM.</a:t>
            </a:r>
            <a:endParaRPr lang="en-US" sz="14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2200" b="1" dirty="0">
                <a:solidFill>
                  <a:schemeClr val="tx2"/>
                </a:solidFill>
                <a:latin typeface="Georgia" pitchFamily="34" charset="0"/>
                <a:ea typeface="Georgia" pitchFamily="34" charset="-122"/>
                <a:cs typeface="Georgia" pitchFamily="34" charset="-120"/>
              </a:rPr>
              <a:t>Master's (2/3): five literature-grounded bad-UI techniques</a:t>
            </a:r>
            <a:endParaRPr lang="en-US" sz="2200" dirty="0"/>
          </a:p>
        </p:txBody>
      </p:sp>
      <p:sp>
        <p:nvSpPr>
          <p:cNvPr id="4" name="Technique card T1"/>
          <p:cNvSpPr/>
          <p:nvPr/>
        </p:nvSpPr>
        <p:spPr>
          <a:xfrm>
            <a:off x="457200" y="1234440"/>
            <a:ext cx="1536192" cy="2103120"/>
          </a:xfrm>
          <a:prstGeom prst="rect">
            <a:avLst/>
          </a:prstGeom>
          <a:solidFill>
            <a:schemeClr val="bg1"/>
          </a:solidFill>
          <a:ln w="12700">
            <a:solidFill>
              <a:schemeClr val="bg2"/>
            </a:solidFill>
            <a:prstDash val="solid"/>
          </a:ln>
        </p:spPr>
      </p:sp>
      <p:sp>
        <p:nvSpPr>
          <p:cNvPr id="5" name="Badge T1"/>
          <p:cNvSpPr/>
          <p:nvPr/>
        </p:nvSpPr>
        <p:spPr>
          <a:xfrm>
            <a:off x="566928" y="1371600"/>
            <a:ext cx="457200" cy="457200"/>
          </a:xfrm>
          <a:prstGeom prst="ellipse">
            <a:avLst/>
          </a:prstGeom>
          <a:solidFill>
            <a:schemeClr val="accent1"/>
          </a:solidFill>
          <a:ln w="12700">
            <a:solidFill>
              <a:schemeClr val="accent1"/>
            </a:solidFill>
            <a:prstDash val="solid"/>
          </a:ln>
        </p:spPr>
      </p:sp>
      <p:sp>
        <p:nvSpPr>
          <p:cNvPr id="6" name="Badge text T1"/>
          <p:cNvSpPr txBox="1"/>
          <p:nvPr/>
        </p:nvSpPr>
        <p:spPr>
          <a:xfrm>
            <a:off x="566928" y="13716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T1</a:t>
            </a:r>
            <a:endParaRPr lang="en-US" sz="1300" dirty="0"/>
          </a:p>
        </p:txBody>
      </p:sp>
      <p:sp>
        <p:nvSpPr>
          <p:cNvPr id="7" name="Technique name T1"/>
          <p:cNvSpPr txBox="1"/>
          <p:nvPr/>
        </p:nvSpPr>
        <p:spPr>
          <a:xfrm>
            <a:off x="502920" y="1920240"/>
            <a:ext cx="1444752" cy="731520"/>
          </a:xfrm>
          <a:prstGeom prst="rect">
            <a:avLst/>
          </a:prstGeom>
          <a:noFill/>
          <a:ln/>
        </p:spPr>
        <p:txBody>
          <a:bodyPr wrap="square" lIns="1016" tIns="1016" rIns="1016" bIns="1016" rtlCol="0" anchor="t"/>
          <a:lstStyle/>
          <a:p>
            <a:pPr indent="0" marL="0">
              <a:buNone/>
            </a:pPr>
            <a:r>
              <a:rPr lang="en-US" sz="1400" b="1" dirty="0">
                <a:solidFill>
                  <a:schemeClr val="tx1"/>
                </a:solidFill>
              </a:rPr>
              <a:t>Similar-name decoys</a:t>
            </a:r>
            <a:endParaRPr lang="en-US" sz="1400" dirty="0"/>
          </a:p>
        </p:txBody>
      </p:sp>
      <p:sp>
        <p:nvSpPr>
          <p:cNvPr id="8" name="Technique ref T1"/>
          <p:cNvSpPr txBox="1"/>
          <p:nvPr/>
        </p:nvSpPr>
        <p:spPr>
          <a:xfrm>
            <a:off x="502920" y="2697480"/>
            <a:ext cx="1444752" cy="594360"/>
          </a:xfrm>
          <a:prstGeom prst="rect">
            <a:avLst/>
          </a:prstGeom>
          <a:noFill/>
          <a:ln/>
        </p:spPr>
        <p:txBody>
          <a:bodyPr wrap="square" lIns="1016" tIns="1016" rIns="1016" bIns="1016" rtlCol="0" anchor="t"/>
          <a:lstStyle/>
          <a:p>
            <a:pPr indent="0" marL="0">
              <a:buNone/>
            </a:pPr>
            <a:r>
              <a:rPr lang="en-US" sz="1050" dirty="0">
                <a:solidFill>
                  <a:schemeClr val="accent3"/>
                </a:solidFill>
              </a:rPr>
              <a:t>Duncan &amp; Humphreys 1989</a:t>
            </a:r>
            <a:endParaRPr lang="en-US" sz="1050" dirty="0"/>
          </a:p>
        </p:txBody>
      </p:sp>
      <p:sp>
        <p:nvSpPr>
          <p:cNvPr id="9" name="Technique card T2"/>
          <p:cNvSpPr/>
          <p:nvPr/>
        </p:nvSpPr>
        <p:spPr>
          <a:xfrm>
            <a:off x="2130552" y="1234440"/>
            <a:ext cx="1536192" cy="2103120"/>
          </a:xfrm>
          <a:prstGeom prst="rect">
            <a:avLst/>
          </a:prstGeom>
          <a:solidFill>
            <a:schemeClr val="bg1"/>
          </a:solidFill>
          <a:ln w="12700">
            <a:solidFill>
              <a:schemeClr val="bg2"/>
            </a:solidFill>
            <a:prstDash val="solid"/>
          </a:ln>
        </p:spPr>
      </p:sp>
      <p:sp>
        <p:nvSpPr>
          <p:cNvPr id="10" name="Badge T2"/>
          <p:cNvSpPr/>
          <p:nvPr/>
        </p:nvSpPr>
        <p:spPr>
          <a:xfrm>
            <a:off x="2240280" y="1371600"/>
            <a:ext cx="457200" cy="457200"/>
          </a:xfrm>
          <a:prstGeom prst="ellipse">
            <a:avLst/>
          </a:prstGeom>
          <a:solidFill>
            <a:schemeClr val="accent1"/>
          </a:solidFill>
          <a:ln w="12700">
            <a:solidFill>
              <a:schemeClr val="accent1"/>
            </a:solidFill>
            <a:prstDash val="solid"/>
          </a:ln>
        </p:spPr>
      </p:sp>
      <p:sp>
        <p:nvSpPr>
          <p:cNvPr id="11" name="Badge text T2"/>
          <p:cNvSpPr txBox="1"/>
          <p:nvPr/>
        </p:nvSpPr>
        <p:spPr>
          <a:xfrm>
            <a:off x="2240280" y="13716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T2</a:t>
            </a:r>
            <a:endParaRPr lang="en-US" sz="1300" dirty="0"/>
          </a:p>
        </p:txBody>
      </p:sp>
      <p:sp>
        <p:nvSpPr>
          <p:cNvPr id="12" name="Technique name T2"/>
          <p:cNvSpPr txBox="1"/>
          <p:nvPr/>
        </p:nvSpPr>
        <p:spPr>
          <a:xfrm>
            <a:off x="2176272" y="1920240"/>
            <a:ext cx="1444752" cy="731520"/>
          </a:xfrm>
          <a:prstGeom prst="rect">
            <a:avLst/>
          </a:prstGeom>
          <a:noFill/>
          <a:ln/>
        </p:spPr>
        <p:txBody>
          <a:bodyPr wrap="square" lIns="1016" tIns="1016" rIns="1016" bIns="1016" rtlCol="0" anchor="t"/>
          <a:lstStyle/>
          <a:p>
            <a:pPr indent="0" marL="0">
              <a:buNone/>
            </a:pPr>
            <a:r>
              <a:rPr lang="en-US" sz="1400" b="1" dirty="0">
                <a:solidFill>
                  <a:schemeClr val="tx1"/>
                </a:solidFill>
              </a:rPr>
              <a:t>Decorative noise</a:t>
            </a:r>
            <a:endParaRPr lang="en-US" sz="1400" dirty="0"/>
          </a:p>
        </p:txBody>
      </p:sp>
      <p:sp>
        <p:nvSpPr>
          <p:cNvPr id="13" name="Technique ref T2"/>
          <p:cNvSpPr txBox="1"/>
          <p:nvPr/>
        </p:nvSpPr>
        <p:spPr>
          <a:xfrm>
            <a:off x="2176272" y="2697480"/>
            <a:ext cx="1444752" cy="594360"/>
          </a:xfrm>
          <a:prstGeom prst="rect">
            <a:avLst/>
          </a:prstGeom>
          <a:noFill/>
          <a:ln/>
        </p:spPr>
        <p:txBody>
          <a:bodyPr wrap="square" lIns="1016" tIns="1016" rIns="1016" bIns="1016" rtlCol="0" anchor="t"/>
          <a:lstStyle/>
          <a:p>
            <a:pPr indent="0" marL="0">
              <a:buNone/>
            </a:pPr>
            <a:r>
              <a:rPr lang="en-US" sz="1050" dirty="0">
                <a:solidFill>
                  <a:schemeClr val="accent3"/>
                </a:solidFill>
              </a:rPr>
              <a:t>Burke et al. 2005</a:t>
            </a:r>
            <a:endParaRPr lang="en-US" sz="1050" dirty="0"/>
          </a:p>
        </p:txBody>
      </p:sp>
      <p:sp>
        <p:nvSpPr>
          <p:cNvPr id="14" name="Technique card T3"/>
          <p:cNvSpPr/>
          <p:nvPr/>
        </p:nvSpPr>
        <p:spPr>
          <a:xfrm>
            <a:off x="3803904" y="1234440"/>
            <a:ext cx="1536192" cy="2103120"/>
          </a:xfrm>
          <a:prstGeom prst="rect">
            <a:avLst/>
          </a:prstGeom>
          <a:solidFill>
            <a:schemeClr val="bg1"/>
          </a:solidFill>
          <a:ln w="12700">
            <a:solidFill>
              <a:schemeClr val="bg2"/>
            </a:solidFill>
            <a:prstDash val="solid"/>
          </a:ln>
        </p:spPr>
      </p:sp>
      <p:sp>
        <p:nvSpPr>
          <p:cNvPr id="15" name="Badge T3"/>
          <p:cNvSpPr/>
          <p:nvPr/>
        </p:nvSpPr>
        <p:spPr>
          <a:xfrm>
            <a:off x="3913632" y="1371600"/>
            <a:ext cx="457200" cy="457200"/>
          </a:xfrm>
          <a:prstGeom prst="ellipse">
            <a:avLst/>
          </a:prstGeom>
          <a:solidFill>
            <a:schemeClr val="accent1"/>
          </a:solidFill>
          <a:ln w="12700">
            <a:solidFill>
              <a:schemeClr val="accent1"/>
            </a:solidFill>
            <a:prstDash val="solid"/>
          </a:ln>
        </p:spPr>
      </p:sp>
      <p:sp>
        <p:nvSpPr>
          <p:cNvPr id="16" name="Badge text T3"/>
          <p:cNvSpPr txBox="1"/>
          <p:nvPr/>
        </p:nvSpPr>
        <p:spPr>
          <a:xfrm>
            <a:off x="3913632" y="13716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T3</a:t>
            </a:r>
            <a:endParaRPr lang="en-US" sz="1300" dirty="0"/>
          </a:p>
        </p:txBody>
      </p:sp>
      <p:sp>
        <p:nvSpPr>
          <p:cNvPr id="17" name="Technique name T3"/>
          <p:cNvSpPr txBox="1"/>
          <p:nvPr/>
        </p:nvSpPr>
        <p:spPr>
          <a:xfrm>
            <a:off x="3849624" y="1920240"/>
            <a:ext cx="1444752" cy="731520"/>
          </a:xfrm>
          <a:prstGeom prst="rect">
            <a:avLst/>
          </a:prstGeom>
          <a:noFill/>
          <a:ln/>
        </p:spPr>
        <p:txBody>
          <a:bodyPr wrap="square" lIns="1016" tIns="1016" rIns="1016" bIns="1016" rtlCol="0" anchor="t"/>
          <a:lstStyle/>
          <a:p>
            <a:pPr indent="0" marL="0">
              <a:buNone/>
            </a:pPr>
            <a:r>
              <a:rPr lang="en-US" sz="1400" b="1" dirty="0">
                <a:solidFill>
                  <a:schemeClr val="tx1"/>
                </a:solidFill>
              </a:rPr>
              <a:t>Shifting button positions</a:t>
            </a:r>
            <a:endParaRPr lang="en-US" sz="1400" dirty="0"/>
          </a:p>
        </p:txBody>
      </p:sp>
      <p:sp>
        <p:nvSpPr>
          <p:cNvPr id="18" name="Technique ref T3"/>
          <p:cNvSpPr txBox="1"/>
          <p:nvPr/>
        </p:nvSpPr>
        <p:spPr>
          <a:xfrm>
            <a:off x="3849624" y="2697480"/>
            <a:ext cx="1444752" cy="594360"/>
          </a:xfrm>
          <a:prstGeom prst="rect">
            <a:avLst/>
          </a:prstGeom>
          <a:noFill/>
          <a:ln/>
        </p:spPr>
        <p:txBody>
          <a:bodyPr wrap="square" lIns="1016" tIns="1016" rIns="1016" bIns="1016" rtlCol="0" anchor="t"/>
          <a:lstStyle/>
          <a:p>
            <a:pPr indent="0" marL="0">
              <a:buNone/>
            </a:pPr>
            <a:r>
              <a:rPr lang="en-US" sz="1050" dirty="0">
                <a:solidFill>
                  <a:schemeClr val="accent3"/>
                </a:solidFill>
              </a:rPr>
              <a:t>McCarthy et al. 2003</a:t>
            </a:r>
            <a:endParaRPr lang="en-US" sz="1050" dirty="0"/>
          </a:p>
        </p:txBody>
      </p:sp>
      <p:sp>
        <p:nvSpPr>
          <p:cNvPr id="19" name="Technique card T4"/>
          <p:cNvSpPr/>
          <p:nvPr/>
        </p:nvSpPr>
        <p:spPr>
          <a:xfrm>
            <a:off x="5477256" y="1234440"/>
            <a:ext cx="1536192" cy="2103120"/>
          </a:xfrm>
          <a:prstGeom prst="rect">
            <a:avLst/>
          </a:prstGeom>
          <a:solidFill>
            <a:schemeClr val="bg1"/>
          </a:solidFill>
          <a:ln w="12700">
            <a:solidFill>
              <a:schemeClr val="bg2"/>
            </a:solidFill>
            <a:prstDash val="solid"/>
          </a:ln>
        </p:spPr>
      </p:sp>
      <p:sp>
        <p:nvSpPr>
          <p:cNvPr id="20" name="Badge T4"/>
          <p:cNvSpPr/>
          <p:nvPr/>
        </p:nvSpPr>
        <p:spPr>
          <a:xfrm>
            <a:off x="5586984" y="1371600"/>
            <a:ext cx="457200" cy="457200"/>
          </a:xfrm>
          <a:prstGeom prst="ellipse">
            <a:avLst/>
          </a:prstGeom>
          <a:solidFill>
            <a:schemeClr val="accent1"/>
          </a:solidFill>
          <a:ln w="12700">
            <a:solidFill>
              <a:schemeClr val="accent1"/>
            </a:solidFill>
            <a:prstDash val="solid"/>
          </a:ln>
        </p:spPr>
      </p:sp>
      <p:sp>
        <p:nvSpPr>
          <p:cNvPr id="21" name="Badge text T4"/>
          <p:cNvSpPr txBox="1"/>
          <p:nvPr/>
        </p:nvSpPr>
        <p:spPr>
          <a:xfrm>
            <a:off x="5586984" y="13716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T4</a:t>
            </a:r>
            <a:endParaRPr lang="en-US" sz="1300" dirty="0"/>
          </a:p>
        </p:txBody>
      </p:sp>
      <p:sp>
        <p:nvSpPr>
          <p:cNvPr id="22" name="Technique name T4"/>
          <p:cNvSpPr txBox="1"/>
          <p:nvPr/>
        </p:nvSpPr>
        <p:spPr>
          <a:xfrm>
            <a:off x="5522976" y="1920240"/>
            <a:ext cx="1444752" cy="731520"/>
          </a:xfrm>
          <a:prstGeom prst="rect">
            <a:avLst/>
          </a:prstGeom>
          <a:noFill/>
          <a:ln/>
        </p:spPr>
        <p:txBody>
          <a:bodyPr wrap="square" lIns="1016" tIns="1016" rIns="1016" bIns="1016" rtlCol="0" anchor="t"/>
          <a:lstStyle/>
          <a:p>
            <a:pPr indent="0" marL="0">
              <a:buNone/>
            </a:pPr>
            <a:r>
              <a:rPr lang="en-US" sz="1400" b="1" dirty="0">
                <a:solidFill>
                  <a:schemeClr val="tx1"/>
                </a:solidFill>
              </a:rPr>
              <a:t>Inconsistent design</a:t>
            </a:r>
            <a:endParaRPr lang="en-US" sz="1400" dirty="0"/>
          </a:p>
        </p:txBody>
      </p:sp>
      <p:sp>
        <p:nvSpPr>
          <p:cNvPr id="23" name="Technique ref T4"/>
          <p:cNvSpPr txBox="1"/>
          <p:nvPr/>
        </p:nvSpPr>
        <p:spPr>
          <a:xfrm>
            <a:off x="5522976" y="2697480"/>
            <a:ext cx="1444752" cy="594360"/>
          </a:xfrm>
          <a:prstGeom prst="rect">
            <a:avLst/>
          </a:prstGeom>
          <a:noFill/>
          <a:ln/>
        </p:spPr>
        <p:txBody>
          <a:bodyPr wrap="square" lIns="1016" tIns="1016" rIns="1016" bIns="1016" rtlCol="0" anchor="t"/>
          <a:lstStyle/>
          <a:p>
            <a:pPr indent="0" marL="0">
              <a:buNone/>
            </a:pPr>
            <a:r>
              <a:rPr lang="en-US" sz="1050" dirty="0">
                <a:solidFill>
                  <a:schemeClr val="accent3"/>
                </a:solidFill>
              </a:rPr>
              <a:t>Mendel 2010/2012 etc.</a:t>
            </a:r>
            <a:endParaRPr lang="en-US" sz="1050" dirty="0"/>
          </a:p>
        </p:txBody>
      </p:sp>
      <p:sp>
        <p:nvSpPr>
          <p:cNvPr id="24" name="Technique card T5"/>
          <p:cNvSpPr/>
          <p:nvPr/>
        </p:nvSpPr>
        <p:spPr>
          <a:xfrm>
            <a:off x="7150608" y="1234440"/>
            <a:ext cx="1536192" cy="2103120"/>
          </a:xfrm>
          <a:prstGeom prst="rect">
            <a:avLst/>
          </a:prstGeom>
          <a:solidFill>
            <a:schemeClr val="bg1"/>
          </a:solidFill>
          <a:ln w="12700">
            <a:solidFill>
              <a:schemeClr val="bg2"/>
            </a:solidFill>
            <a:prstDash val="solid"/>
          </a:ln>
        </p:spPr>
      </p:sp>
      <p:sp>
        <p:nvSpPr>
          <p:cNvPr id="25" name="Badge T5"/>
          <p:cNvSpPr/>
          <p:nvPr/>
        </p:nvSpPr>
        <p:spPr>
          <a:xfrm>
            <a:off x="7260336" y="1371600"/>
            <a:ext cx="457200" cy="457200"/>
          </a:xfrm>
          <a:prstGeom prst="ellipse">
            <a:avLst/>
          </a:prstGeom>
          <a:solidFill>
            <a:schemeClr val="accent1"/>
          </a:solidFill>
          <a:ln w="12700">
            <a:solidFill>
              <a:schemeClr val="accent1"/>
            </a:solidFill>
            <a:prstDash val="solid"/>
          </a:ln>
        </p:spPr>
      </p:sp>
      <p:sp>
        <p:nvSpPr>
          <p:cNvPr id="26" name="Badge text T5"/>
          <p:cNvSpPr txBox="1"/>
          <p:nvPr/>
        </p:nvSpPr>
        <p:spPr>
          <a:xfrm>
            <a:off x="7260336" y="13716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T5</a:t>
            </a:r>
            <a:endParaRPr lang="en-US" sz="1300" dirty="0"/>
          </a:p>
        </p:txBody>
      </p:sp>
      <p:sp>
        <p:nvSpPr>
          <p:cNvPr id="27" name="Technique name T5"/>
          <p:cNvSpPr txBox="1"/>
          <p:nvPr/>
        </p:nvSpPr>
        <p:spPr>
          <a:xfrm>
            <a:off x="7196328" y="1920240"/>
            <a:ext cx="1444752" cy="731520"/>
          </a:xfrm>
          <a:prstGeom prst="rect">
            <a:avLst/>
          </a:prstGeom>
          <a:noFill/>
          <a:ln/>
        </p:spPr>
        <p:txBody>
          <a:bodyPr wrap="square" lIns="1016" tIns="1016" rIns="1016" bIns="1016" rtlCol="0" anchor="t"/>
          <a:lstStyle/>
          <a:p>
            <a:pPr indent="0" marL="0">
              <a:buNone/>
            </a:pPr>
            <a:r>
              <a:rPr lang="en-US" sz="1400" b="1" dirty="0">
                <a:solidFill>
                  <a:schemeClr val="tx1"/>
                </a:solidFill>
              </a:rPr>
              <a:t>Low-contrast progress indicator</a:t>
            </a:r>
            <a:endParaRPr lang="en-US" sz="1400" dirty="0"/>
          </a:p>
        </p:txBody>
      </p:sp>
      <p:sp>
        <p:nvSpPr>
          <p:cNvPr id="28" name="Technique ref T5"/>
          <p:cNvSpPr txBox="1"/>
          <p:nvPr/>
        </p:nvSpPr>
        <p:spPr>
          <a:xfrm>
            <a:off x="7196328" y="2697480"/>
            <a:ext cx="1444752" cy="594360"/>
          </a:xfrm>
          <a:prstGeom prst="rect">
            <a:avLst/>
          </a:prstGeom>
          <a:noFill/>
          <a:ln/>
        </p:spPr>
        <p:txBody>
          <a:bodyPr wrap="square" lIns="1016" tIns="1016" rIns="1016" bIns="1016" rtlCol="0" anchor="t"/>
          <a:lstStyle/>
          <a:p>
            <a:pPr indent="0" marL="0">
              <a:buNone/>
            </a:pPr>
            <a:r>
              <a:rPr lang="en-US" sz="1050" dirty="0">
                <a:solidFill>
                  <a:schemeClr val="accent3"/>
                </a:solidFill>
              </a:rPr>
              <a:t>Yu et al. 2022; Legge et al. 1997</a:t>
            </a:r>
            <a:endParaRPr lang="en-US" sz="1050" dirty="0"/>
          </a:p>
        </p:txBody>
      </p:sp>
      <p:sp>
        <p:nvSpPr>
          <p:cNvPr id="29" name="Fact 1"/>
          <p:cNvSpPr/>
          <p:nvPr/>
        </p:nvSpPr>
        <p:spPr>
          <a:xfrm>
            <a:off x="457200" y="3566160"/>
            <a:ext cx="1947672" cy="1005840"/>
          </a:xfrm>
          <a:prstGeom prst="rect">
            <a:avLst/>
          </a:prstGeom>
          <a:solidFill>
            <a:schemeClr val="accent6"/>
          </a:solidFill>
          <a:ln w="12700">
            <a:solidFill>
              <a:schemeClr val="bg2"/>
            </a:solidFill>
            <a:prstDash val="solid"/>
          </a:ln>
        </p:spPr>
      </p:sp>
      <p:sp>
        <p:nvSpPr>
          <p:cNvPr id="30" name="Fact num 1"/>
          <p:cNvSpPr txBox="1"/>
          <p:nvPr/>
        </p:nvSpPr>
        <p:spPr>
          <a:xfrm>
            <a:off x="502920" y="3611880"/>
            <a:ext cx="640080" cy="914400"/>
          </a:xfrm>
          <a:prstGeom prst="rect">
            <a:avLst/>
          </a:prstGeom>
          <a:noFill/>
          <a:ln/>
        </p:spPr>
        <p:txBody>
          <a:bodyPr wrap="square" lIns="1016" tIns="1016" rIns="1016" bIns="1016" rtlCol="0" anchor="ctr"/>
          <a:lstStyle/>
          <a:p>
            <a:pPr indent="0" marL="0">
              <a:buNone/>
            </a:pPr>
            <a:r>
              <a:rPr lang="en-US" sz="2800" b="1" dirty="0">
                <a:solidFill>
                  <a:schemeClr val="accent1"/>
                </a:solidFill>
                <a:latin typeface="Georgia" pitchFamily="34" charset="0"/>
                <a:ea typeface="Georgia" pitchFamily="34" charset="-122"/>
                <a:cs typeface="Georgia" pitchFamily="34" charset="-120"/>
              </a:rPr>
              <a:t>7</a:t>
            </a:r>
            <a:endParaRPr lang="en-US" sz="2800" dirty="0"/>
          </a:p>
        </p:txBody>
      </p:sp>
      <p:sp>
        <p:nvSpPr>
          <p:cNvPr id="31" name="Fact label 1"/>
          <p:cNvSpPr txBox="1"/>
          <p:nvPr/>
        </p:nvSpPr>
        <p:spPr>
          <a:xfrm>
            <a:off x="1143000" y="3611880"/>
            <a:ext cx="1234440" cy="914400"/>
          </a:xfrm>
          <a:prstGeom prst="rect">
            <a:avLst/>
          </a:prstGeom>
          <a:noFill/>
          <a:ln/>
        </p:spPr>
        <p:txBody>
          <a:bodyPr wrap="square" lIns="1016" tIns="1016" rIns="1016" bIns="1016" rtlCol="0" anchor="ctr"/>
          <a:lstStyle/>
          <a:p>
            <a:pPr indent="0" marL="0">
              <a:buNone/>
            </a:pPr>
            <a:r>
              <a:rPr lang="en-US" sz="1100" dirty="0">
                <a:solidFill>
                  <a:schemeClr val="tx1"/>
                </a:solidFill>
              </a:rPr>
              <a:t>versions per site: G, B-T1…T5, B-all</a:t>
            </a:r>
            <a:endParaRPr lang="en-US" sz="1100" dirty="0"/>
          </a:p>
        </p:txBody>
      </p:sp>
      <p:sp>
        <p:nvSpPr>
          <p:cNvPr id="32" name="Fact 2"/>
          <p:cNvSpPr/>
          <p:nvPr/>
        </p:nvSpPr>
        <p:spPr>
          <a:xfrm>
            <a:off x="2542032" y="3566160"/>
            <a:ext cx="1947672" cy="1005840"/>
          </a:xfrm>
          <a:prstGeom prst="rect">
            <a:avLst/>
          </a:prstGeom>
          <a:solidFill>
            <a:schemeClr val="accent6"/>
          </a:solidFill>
          <a:ln w="12700">
            <a:solidFill>
              <a:schemeClr val="bg2"/>
            </a:solidFill>
            <a:prstDash val="solid"/>
          </a:ln>
        </p:spPr>
      </p:sp>
      <p:sp>
        <p:nvSpPr>
          <p:cNvPr id="33" name="Fact num 2"/>
          <p:cNvSpPr txBox="1"/>
          <p:nvPr/>
        </p:nvSpPr>
        <p:spPr>
          <a:xfrm>
            <a:off x="2587752" y="3611880"/>
            <a:ext cx="640080" cy="914400"/>
          </a:xfrm>
          <a:prstGeom prst="rect">
            <a:avLst/>
          </a:prstGeom>
          <a:noFill/>
          <a:ln/>
        </p:spPr>
        <p:txBody>
          <a:bodyPr wrap="square" lIns="1016" tIns="1016" rIns="1016" bIns="1016" rtlCol="0" anchor="ctr"/>
          <a:lstStyle/>
          <a:p>
            <a:pPr indent="0" marL="0">
              <a:buNone/>
            </a:pPr>
            <a:r>
              <a:rPr lang="en-US" sz="2800" b="1" dirty="0">
                <a:solidFill>
                  <a:schemeClr val="accent1"/>
                </a:solidFill>
                <a:latin typeface="Georgia" pitchFamily="34" charset="0"/>
                <a:ea typeface="Georgia" pitchFamily="34" charset="-122"/>
                <a:cs typeface="Georgia" pitchFamily="34" charset="-120"/>
              </a:rPr>
              <a:t>2</a:t>
            </a:r>
            <a:endParaRPr lang="en-US" sz="2800" dirty="0"/>
          </a:p>
        </p:txBody>
      </p:sp>
      <p:sp>
        <p:nvSpPr>
          <p:cNvPr id="34" name="Fact label 2"/>
          <p:cNvSpPr txBox="1"/>
          <p:nvPr/>
        </p:nvSpPr>
        <p:spPr>
          <a:xfrm>
            <a:off x="3227832" y="3611880"/>
            <a:ext cx="1234440" cy="914400"/>
          </a:xfrm>
          <a:prstGeom prst="rect">
            <a:avLst/>
          </a:prstGeom>
          <a:noFill/>
          <a:ln/>
        </p:spPr>
        <p:txBody>
          <a:bodyPr wrap="square" lIns="1016" tIns="1016" rIns="1016" bIns="1016" rtlCol="0" anchor="ctr"/>
          <a:lstStyle/>
          <a:p>
            <a:pPr indent="0" marL="0">
              <a:buNone/>
            </a:pPr>
            <a:r>
              <a:rPr lang="en-US" sz="1100" dirty="0">
                <a:solidFill>
                  <a:schemeClr val="tx1"/>
                </a:solidFill>
              </a:rPr>
              <a:t>genres: shopping, job search</a:t>
            </a:r>
            <a:endParaRPr lang="en-US" sz="1100" dirty="0"/>
          </a:p>
        </p:txBody>
      </p:sp>
      <p:sp>
        <p:nvSpPr>
          <p:cNvPr id="35" name="Fact 3"/>
          <p:cNvSpPr/>
          <p:nvPr/>
        </p:nvSpPr>
        <p:spPr>
          <a:xfrm>
            <a:off x="4626864" y="3566160"/>
            <a:ext cx="1947672" cy="1005840"/>
          </a:xfrm>
          <a:prstGeom prst="rect">
            <a:avLst/>
          </a:prstGeom>
          <a:solidFill>
            <a:schemeClr val="accent6"/>
          </a:solidFill>
          <a:ln w="12700">
            <a:solidFill>
              <a:schemeClr val="bg2"/>
            </a:solidFill>
            <a:prstDash val="solid"/>
          </a:ln>
        </p:spPr>
      </p:sp>
      <p:sp>
        <p:nvSpPr>
          <p:cNvPr id="36" name="Fact num 3"/>
          <p:cNvSpPr txBox="1"/>
          <p:nvPr/>
        </p:nvSpPr>
        <p:spPr>
          <a:xfrm>
            <a:off x="4672584" y="3611880"/>
            <a:ext cx="640080" cy="914400"/>
          </a:xfrm>
          <a:prstGeom prst="rect">
            <a:avLst/>
          </a:prstGeom>
          <a:noFill/>
          <a:ln/>
        </p:spPr>
        <p:txBody>
          <a:bodyPr wrap="square" lIns="1016" tIns="1016" rIns="1016" bIns="1016" rtlCol="0" anchor="ctr"/>
          <a:lstStyle/>
          <a:p>
            <a:pPr indent="0" marL="0">
              <a:buNone/>
            </a:pPr>
            <a:r>
              <a:rPr lang="en-US" sz="2800" b="1" dirty="0">
                <a:solidFill>
                  <a:schemeClr val="accent1"/>
                </a:solidFill>
                <a:latin typeface="Georgia" pitchFamily="34" charset="0"/>
                <a:ea typeface="Georgia" pitchFamily="34" charset="-122"/>
                <a:cs typeface="Georgia" pitchFamily="34" charset="-120"/>
              </a:rPr>
              <a:t>0</a:t>
            </a:r>
            <a:endParaRPr lang="en-US" sz="2800" dirty="0"/>
          </a:p>
        </p:txBody>
      </p:sp>
      <p:sp>
        <p:nvSpPr>
          <p:cNvPr id="37" name="Fact label 3"/>
          <p:cNvSpPr txBox="1"/>
          <p:nvPr/>
        </p:nvSpPr>
        <p:spPr>
          <a:xfrm>
            <a:off x="5312664" y="3611880"/>
            <a:ext cx="1234440" cy="914400"/>
          </a:xfrm>
          <a:prstGeom prst="rect">
            <a:avLst/>
          </a:prstGeom>
          <a:noFill/>
          <a:ln/>
        </p:spPr>
        <p:txBody>
          <a:bodyPr wrap="square" lIns="1016" tIns="1016" rIns="1016" bIns="1016" rtlCol="0" anchor="ctr"/>
          <a:lstStyle/>
          <a:p>
            <a:pPr indent="0" marL="0">
              <a:buNone/>
            </a:pPr>
            <a:r>
              <a:rPr lang="en-US" sz="1100" dirty="0">
                <a:solidFill>
                  <a:schemeClr val="tx1"/>
                </a:solidFill>
              </a:rPr>
              <a:t>scrolling, so gaze stays reliable</a:t>
            </a:r>
            <a:endParaRPr lang="en-US" sz="1100" dirty="0"/>
          </a:p>
        </p:txBody>
      </p:sp>
      <p:sp>
        <p:nvSpPr>
          <p:cNvPr id="38" name="Fact 4"/>
          <p:cNvSpPr/>
          <p:nvPr/>
        </p:nvSpPr>
        <p:spPr>
          <a:xfrm>
            <a:off x="6711696" y="3566160"/>
            <a:ext cx="1947672" cy="1005840"/>
          </a:xfrm>
          <a:prstGeom prst="rect">
            <a:avLst/>
          </a:prstGeom>
          <a:solidFill>
            <a:schemeClr val="accent6"/>
          </a:solidFill>
          <a:ln w="12700">
            <a:solidFill>
              <a:schemeClr val="bg2"/>
            </a:solidFill>
            <a:prstDash val="solid"/>
          </a:ln>
        </p:spPr>
      </p:sp>
      <p:sp>
        <p:nvSpPr>
          <p:cNvPr id="39" name="Fact num 4"/>
          <p:cNvSpPr txBox="1"/>
          <p:nvPr/>
        </p:nvSpPr>
        <p:spPr>
          <a:xfrm>
            <a:off x="6757416" y="3611880"/>
            <a:ext cx="640080" cy="914400"/>
          </a:xfrm>
          <a:prstGeom prst="rect">
            <a:avLst/>
          </a:prstGeom>
          <a:noFill/>
          <a:ln/>
        </p:spPr>
        <p:txBody>
          <a:bodyPr wrap="square" lIns="1016" tIns="1016" rIns="1016" bIns="1016" rtlCol="0" anchor="ctr"/>
          <a:lstStyle/>
          <a:p>
            <a:pPr indent="0" marL="0">
              <a:buNone/>
            </a:pPr>
            <a:r>
              <a:rPr lang="en-US" sz="2800" b="1" dirty="0">
                <a:solidFill>
                  <a:schemeClr val="accent1"/>
                </a:solidFill>
                <a:latin typeface="Georgia" pitchFamily="34" charset="0"/>
                <a:ea typeface="Georgia" pitchFamily="34" charset="-122"/>
                <a:cs typeface="Georgia" pitchFamily="34" charset="-120"/>
              </a:rPr>
              <a:t>20</a:t>
            </a:r>
            <a:endParaRPr lang="en-US" sz="2800" dirty="0"/>
          </a:p>
        </p:txBody>
      </p:sp>
      <p:sp>
        <p:nvSpPr>
          <p:cNvPr id="40" name="Fact label 4"/>
          <p:cNvSpPr txBox="1"/>
          <p:nvPr/>
        </p:nvSpPr>
        <p:spPr>
          <a:xfrm>
            <a:off x="7397496" y="3611880"/>
            <a:ext cx="1234440" cy="914400"/>
          </a:xfrm>
          <a:prstGeom prst="rect">
            <a:avLst/>
          </a:prstGeom>
          <a:noFill/>
          <a:ln/>
        </p:spPr>
        <p:txBody>
          <a:bodyPr wrap="square" lIns="1016" tIns="1016" rIns="1016" bIns="1016" rtlCol="0" anchor="ctr"/>
          <a:lstStyle/>
          <a:p>
            <a:pPr indent="0" marL="0">
              <a:buNone/>
            </a:pPr>
            <a:r>
              <a:rPr lang="en-US" sz="1100" dirty="0">
                <a:solidFill>
                  <a:schemeClr val="tx1"/>
                </a:solidFill>
              </a:rPr>
              <a:t>areas of interest per site</a:t>
            </a:r>
            <a:endParaRPr lang="en-US" sz="11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274320"/>
            <a:ext cx="8229600" cy="685800"/>
          </a:xfrm>
          <a:prstGeom prst="rect">
            <a:avLst/>
          </a:prstGeom>
          <a:noFill/>
          <a:ln/>
        </p:spPr>
        <p:txBody>
          <a:bodyPr wrap="square" lIns="0" tIns="0" rIns="0" bIns="0" rtlCol="0" anchor="ctr"/>
          <a:lstStyle/>
          <a:p>
            <a:pPr indent="0" marL="0">
              <a:buNone/>
            </a:pPr>
            <a:r>
              <a:rPr lang="en-US" sz="2200" b="1" dirty="0">
                <a:solidFill>
                  <a:schemeClr val="tx2"/>
                </a:solidFill>
                <a:latin typeface="Georgia" pitchFamily="34" charset="0"/>
                <a:ea typeface="Georgia" pitchFamily="34" charset="-122"/>
                <a:cs typeface="Georgia" pitchFamily="34" charset="-120"/>
              </a:rPr>
              <a:t>Master's (3/3): status and take-away</a:t>
            </a:r>
            <a:endParaRPr lang="en-US" sz="2200" dirty="0"/>
          </a:p>
        </p:txBody>
      </p:sp>
      <p:sp>
        <p:nvSpPr>
          <p:cNvPr id="4" name="Step 1"/>
          <p:cNvSpPr/>
          <p:nvPr/>
        </p:nvSpPr>
        <p:spPr>
          <a:xfrm>
            <a:off x="457200" y="1280160"/>
            <a:ext cx="2468880" cy="1188720"/>
          </a:xfrm>
          <a:prstGeom prst="rect">
            <a:avLst/>
          </a:prstGeom>
          <a:solidFill>
            <a:schemeClr val="accent1"/>
          </a:solidFill>
          <a:ln w="12700">
            <a:solidFill>
              <a:schemeClr val="bg2"/>
            </a:solidFill>
            <a:prstDash val="solid"/>
          </a:ln>
        </p:spPr>
      </p:sp>
      <p:sp>
        <p:nvSpPr>
          <p:cNvPr id="5" name="Step text 1"/>
          <p:cNvSpPr txBox="1"/>
          <p:nvPr/>
        </p:nvSpPr>
        <p:spPr>
          <a:xfrm>
            <a:off x="548640" y="1325880"/>
            <a:ext cx="2286000" cy="1097280"/>
          </a:xfrm>
          <a:prstGeom prst="rect">
            <a:avLst/>
          </a:prstGeom>
          <a:noFill/>
          <a:ln/>
        </p:spPr>
        <p:txBody>
          <a:bodyPr wrap="square" lIns="1016" tIns="1016" rIns="1016" bIns="1016" rtlCol="0" anchor="ctr"/>
          <a:lstStyle/>
          <a:p>
            <a:pPr indent="0" marL="0">
              <a:buNone/>
            </a:pPr>
            <a:r>
              <a:rPr lang="en-US" sz="1100" b="1" dirty="0">
                <a:solidFill>
                  <a:schemeClr val="bg1"/>
                </a:solidFill>
              </a:rPr>
              <a:t>DONE</a:t>
            </a:r>
            <a:endParaRPr lang="en-US" sz="1300" dirty="0"/>
          </a:p>
          <a:p>
            <a:pPr indent="0" marL="0">
              <a:buNone/>
            </a:pPr>
            <a:r>
              <a:rPr lang="en-US" sz="2000" b="1" dirty="0">
                <a:solidFill>
                  <a:schemeClr val="bg1"/>
                </a:solidFill>
              </a:rPr>
              <a:t>Prototypes</a:t>
            </a:r>
            <a:endParaRPr lang="en-US" sz="1300" dirty="0"/>
          </a:p>
          <a:p>
            <a:pPr indent="0" marL="0">
              <a:buNone/>
            </a:pPr>
            <a:r>
              <a:rPr lang="en-US" sz="1300" dirty="0">
                <a:solidFill>
                  <a:schemeClr val="bg1"/>
                </a:solidFill>
              </a:rPr>
              <a:t>Both sites complete</a:t>
            </a:r>
            <a:endParaRPr lang="en-US" sz="1300" dirty="0"/>
          </a:p>
        </p:txBody>
      </p:sp>
      <p:sp>
        <p:nvSpPr>
          <p:cNvPr id="6" name="Step arrow 1"/>
          <p:cNvSpPr/>
          <p:nvPr/>
        </p:nvSpPr>
        <p:spPr>
          <a:xfrm>
            <a:off x="2971800" y="1783080"/>
            <a:ext cx="274320" cy="274320"/>
          </a:xfrm>
          <a:prstGeom prst="rightArrow">
            <a:avLst/>
          </a:prstGeom>
          <a:solidFill>
            <a:schemeClr val="accent3"/>
          </a:solidFill>
          <a:ln w="12700">
            <a:solidFill>
              <a:schemeClr val="accent3"/>
            </a:solidFill>
            <a:prstDash val="solid"/>
          </a:ln>
        </p:spPr>
      </p:sp>
      <p:sp>
        <p:nvSpPr>
          <p:cNvPr id="7" name="Step 2"/>
          <p:cNvSpPr/>
          <p:nvPr/>
        </p:nvSpPr>
        <p:spPr>
          <a:xfrm>
            <a:off x="3291840" y="1280160"/>
            <a:ext cx="2468880" cy="1188720"/>
          </a:xfrm>
          <a:prstGeom prst="rect">
            <a:avLst/>
          </a:prstGeom>
          <a:solidFill>
            <a:schemeClr val="accent2"/>
          </a:solidFill>
          <a:ln w="12700">
            <a:solidFill>
              <a:schemeClr val="bg2"/>
            </a:solidFill>
            <a:prstDash val="solid"/>
          </a:ln>
        </p:spPr>
      </p:sp>
      <p:sp>
        <p:nvSpPr>
          <p:cNvPr id="8" name="Step text 2"/>
          <p:cNvSpPr txBox="1"/>
          <p:nvPr/>
        </p:nvSpPr>
        <p:spPr>
          <a:xfrm>
            <a:off x="3383280" y="1325880"/>
            <a:ext cx="2286000" cy="1097280"/>
          </a:xfrm>
          <a:prstGeom prst="rect">
            <a:avLst/>
          </a:prstGeom>
          <a:noFill/>
          <a:ln/>
        </p:spPr>
        <p:txBody>
          <a:bodyPr wrap="square" lIns="1016" tIns="1016" rIns="1016" bIns="1016" rtlCol="0" anchor="ctr"/>
          <a:lstStyle/>
          <a:p>
            <a:pPr indent="0" marL="0">
              <a:buNone/>
            </a:pPr>
            <a:r>
              <a:rPr lang="en-US" sz="1100" b="1" dirty="0">
                <a:solidFill>
                  <a:schemeClr val="tx2"/>
                </a:solidFill>
              </a:rPr>
              <a:t>PLANNED</a:t>
            </a:r>
            <a:endParaRPr lang="en-US" sz="1300" dirty="0"/>
          </a:p>
          <a:p>
            <a:pPr indent="0" marL="0">
              <a:buNone/>
            </a:pPr>
            <a:r>
              <a:rPr lang="en-US" sz="2000" b="1" dirty="0">
                <a:solidFill>
                  <a:schemeClr val="tx2"/>
                </a:solidFill>
              </a:rPr>
              <a:t>Pilot</a:t>
            </a:r>
            <a:endParaRPr lang="en-US" sz="1300" dirty="0"/>
          </a:p>
          <a:p>
            <a:pPr indent="0" marL="0">
              <a:buNone/>
            </a:pPr>
            <a:r>
              <a:rPr lang="en-US" sz="1300" dirty="0">
                <a:solidFill>
                  <a:schemeClr val="tx2"/>
                </a:solidFill>
              </a:rPr>
              <a:t>N = 6</a:t>
            </a:r>
            <a:endParaRPr lang="en-US" sz="1300" dirty="0"/>
          </a:p>
        </p:txBody>
      </p:sp>
      <p:sp>
        <p:nvSpPr>
          <p:cNvPr id="9" name="Step arrow 2"/>
          <p:cNvSpPr/>
          <p:nvPr/>
        </p:nvSpPr>
        <p:spPr>
          <a:xfrm>
            <a:off x="5806440" y="1783080"/>
            <a:ext cx="274320" cy="274320"/>
          </a:xfrm>
          <a:prstGeom prst="rightArrow">
            <a:avLst/>
          </a:prstGeom>
          <a:solidFill>
            <a:schemeClr val="accent3"/>
          </a:solidFill>
          <a:ln w="12700">
            <a:solidFill>
              <a:schemeClr val="accent3"/>
            </a:solidFill>
            <a:prstDash val="solid"/>
          </a:ln>
        </p:spPr>
      </p:sp>
      <p:sp>
        <p:nvSpPr>
          <p:cNvPr id="10" name="Step 3"/>
          <p:cNvSpPr/>
          <p:nvPr/>
        </p:nvSpPr>
        <p:spPr>
          <a:xfrm>
            <a:off x="6126480" y="1280160"/>
            <a:ext cx="2468880" cy="1188720"/>
          </a:xfrm>
          <a:prstGeom prst="rect">
            <a:avLst/>
          </a:prstGeom>
          <a:solidFill>
            <a:schemeClr val="accent2"/>
          </a:solidFill>
          <a:ln w="12700">
            <a:solidFill>
              <a:schemeClr val="bg2"/>
            </a:solidFill>
            <a:prstDash val="solid"/>
          </a:ln>
        </p:spPr>
      </p:sp>
      <p:sp>
        <p:nvSpPr>
          <p:cNvPr id="11" name="Step text 3"/>
          <p:cNvSpPr txBox="1"/>
          <p:nvPr/>
        </p:nvSpPr>
        <p:spPr>
          <a:xfrm>
            <a:off x="6217920" y="1325880"/>
            <a:ext cx="2286000" cy="1097280"/>
          </a:xfrm>
          <a:prstGeom prst="rect">
            <a:avLst/>
          </a:prstGeom>
          <a:noFill/>
          <a:ln/>
        </p:spPr>
        <p:txBody>
          <a:bodyPr wrap="square" lIns="1016" tIns="1016" rIns="1016" bIns="1016" rtlCol="0" anchor="ctr"/>
          <a:lstStyle/>
          <a:p>
            <a:pPr indent="0" marL="0">
              <a:buNone/>
            </a:pPr>
            <a:r>
              <a:rPr lang="en-US" sz="1100" b="1" dirty="0">
                <a:solidFill>
                  <a:schemeClr val="tx2"/>
                </a:solidFill>
              </a:rPr>
              <a:t>PLANNED</a:t>
            </a:r>
            <a:endParaRPr lang="en-US" sz="1300" dirty="0"/>
          </a:p>
          <a:p>
            <a:pPr indent="0" marL="0">
              <a:buNone/>
            </a:pPr>
            <a:r>
              <a:rPr lang="en-US" sz="2000" b="1" dirty="0">
                <a:solidFill>
                  <a:schemeClr val="tx2"/>
                </a:solidFill>
              </a:rPr>
              <a:t>Main study</a:t>
            </a:r>
            <a:endParaRPr lang="en-US" sz="1300" dirty="0"/>
          </a:p>
          <a:p>
            <a:pPr indent="0" marL="0">
              <a:buNone/>
            </a:pPr>
            <a:r>
              <a:rPr lang="en-US" sz="1300" dirty="0">
                <a:solidFill>
                  <a:schemeClr val="tx2"/>
                </a:solidFill>
              </a:rPr>
              <a:t>N = 40–64</a:t>
            </a:r>
            <a:endParaRPr lang="en-US" sz="1300" dirty="0"/>
          </a:p>
        </p:txBody>
      </p:sp>
      <p:sp>
        <p:nvSpPr>
          <p:cNvPr id="12" name="Honesty box"/>
          <p:cNvSpPr/>
          <p:nvPr/>
        </p:nvSpPr>
        <p:spPr>
          <a:xfrm>
            <a:off x="457200" y="2697480"/>
            <a:ext cx="8229600" cy="777240"/>
          </a:xfrm>
          <a:prstGeom prst="rect">
            <a:avLst/>
          </a:prstGeom>
          <a:solidFill>
            <a:schemeClr val="bg1"/>
          </a:solidFill>
          <a:ln w="12700">
            <a:solidFill>
              <a:schemeClr val="accent4"/>
            </a:solidFill>
            <a:prstDash val="solid"/>
          </a:ln>
        </p:spPr>
      </p:sp>
      <p:sp>
        <p:nvSpPr>
          <p:cNvPr id="13" name="Honesty text"/>
          <p:cNvSpPr txBox="1"/>
          <p:nvPr/>
        </p:nvSpPr>
        <p:spPr>
          <a:xfrm>
            <a:off x="594360" y="2724912"/>
            <a:ext cx="7955280" cy="731520"/>
          </a:xfrm>
          <a:prstGeom prst="rect">
            <a:avLst/>
          </a:prstGeom>
          <a:noFill/>
          <a:ln/>
        </p:spPr>
        <p:txBody>
          <a:bodyPr wrap="square" lIns="1016" tIns="1016" rIns="1016" bIns="1016" rtlCol="0" anchor="ctr"/>
          <a:lstStyle/>
          <a:p>
            <a:pPr indent="0" marL="0">
              <a:buNone/>
            </a:pPr>
            <a:r>
              <a:rPr lang="en-US" sz="1400" b="1" dirty="0">
                <a:solidFill>
                  <a:schemeClr val="accent4"/>
                </a:solidFill>
              </a:rPr>
              <a:t>So far: </a:t>
            </a:r>
            <a:pPr indent="0" marL="0">
              <a:buNone/>
            </a:pPr>
            <a:r>
              <a:rPr lang="en-US" sz="1400" dirty="0">
                <a:solidFill>
                  <a:schemeClr val="tx1"/>
                </a:solidFill>
              </a:rPr>
              <a:t>N = 3 preliminary study and a wiring check with mock LLM responses. No results are claimed yet.</a:t>
            </a:r>
            <a:endParaRPr lang="en-US" sz="1400" dirty="0"/>
          </a:p>
        </p:txBody>
      </p:sp>
      <p:sp>
        <p:nvSpPr>
          <p:cNvPr id="14" name="Take-away"/>
          <p:cNvSpPr/>
          <p:nvPr/>
        </p:nvSpPr>
        <p:spPr>
          <a:xfrm>
            <a:off x="457200" y="3657600"/>
            <a:ext cx="8229600" cy="914400"/>
          </a:xfrm>
          <a:prstGeom prst="rect">
            <a:avLst/>
          </a:prstGeom>
          <a:solidFill>
            <a:schemeClr val="tx2"/>
          </a:solidFill>
          <a:ln w="12700">
            <a:solidFill>
              <a:schemeClr val="bg2"/>
            </a:solidFill>
            <a:prstDash val="solid"/>
          </a:ln>
        </p:spPr>
      </p:sp>
      <p:sp>
        <p:nvSpPr>
          <p:cNvPr id="15" name="Take-away text"/>
          <p:cNvSpPr txBox="1"/>
          <p:nvPr/>
        </p:nvSpPr>
        <p:spPr>
          <a:xfrm>
            <a:off x="594360" y="3685032"/>
            <a:ext cx="7955280" cy="868680"/>
          </a:xfrm>
          <a:prstGeom prst="rect">
            <a:avLst/>
          </a:prstGeom>
          <a:noFill/>
          <a:ln/>
        </p:spPr>
        <p:txBody>
          <a:bodyPr wrap="square" lIns="1016" tIns="1016" rIns="1016" bIns="1016" rtlCol="0" anchor="ctr"/>
          <a:lstStyle/>
          <a:p>
            <a:pPr indent="0" marL="0">
              <a:buNone/>
            </a:pPr>
            <a:r>
              <a:rPr lang="en-US" sz="1600" b="1" dirty="0">
                <a:solidFill>
                  <a:schemeClr val="bg1"/>
                </a:solidFill>
              </a:rPr>
              <a:t>Help UX teams find where and why users hesitate, with less burden on users.</a:t>
            </a:r>
            <a:endParaRPr lang="en-US" sz="1300" dirty="0"/>
          </a:p>
          <a:p>
            <a:pPr indent="0" marL="0">
              <a:buNone/>
            </a:pPr>
            <a:r>
              <a:rPr lang="en-US" sz="1200" dirty="0">
                <a:solidFill>
                  <a:schemeClr val="accent6"/>
                </a:solidFill>
              </a:rPr>
              <a:t>Showing where an LLM's interpretation breaks down is itself a useful finding.</a:t>
            </a:r>
            <a:endParaRPr lang="en-US" sz="1300" dirty="0"/>
          </a:p>
        </p:txBody>
      </p:sp>
      <p:sp>
        <p:nvSpPr>
          <p:cNvPr id="25" name="Slide Number Placeholder 0"/>
          <p:cNvSpPr>
            <a:spLocks noGrp="1"/>
          </p:cNvSpPr>
          <p:nvPr>
            <p:ph type="sldNum" sz="quarter" idx="4294967295"/>
          </p:nvPr>
        </p:nvSpPr>
        <p:spPr>
          <a:xfrm>
            <a:off x="8229600" y="4828032"/>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Hesitation">
  <a:themeElements>
    <a:clrScheme name="Hesitation">
      <a:dk1>
        <a:srgbClr val="1F2937"/>
      </a:dk1>
      <a:lt1>
        <a:srgbClr val="FFFFFF"/>
      </a:lt1>
      <a:dk2>
        <a:srgbClr val="14213D"/>
      </a:dk2>
      <a:lt2>
        <a:srgbClr val="F3F6F9"/>
      </a:lt2>
      <a:accent1>
        <a:srgbClr val="0F8B8D"/>
      </a:accent1>
      <a:accent2>
        <a:srgbClr val="E8A33D"/>
      </a:accent2>
      <a:accent3>
        <a:srgbClr val="6B7280"/>
      </a:accent3>
      <a:accent4>
        <a:srgbClr val="C8553D"/>
      </a:accent4>
      <a:accent5>
        <a:srgbClr val="3A6EA5"/>
      </a:accent5>
      <a:accent6>
        <a:srgbClr val="D8EEEE"/>
      </a:accent6>
      <a:hlink>
        <a:srgbClr val="0F8B8D"/>
      </a:hlink>
      <a:folHlink>
        <a:srgbClr val="6B7280"/>
      </a:folHlink>
    </a:clrScheme>
    <a:fontScheme name="Hesitatio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Understanding Why Users Hesitate</dc:title>
  <dc:subject>PptxGenJS Presentation</dc:subject>
  <dc:creator>Reina Ikeda</dc:creator>
  <cp:lastModifiedBy>Reina Ikeda</cp:lastModifiedBy>
  <cp:revision>1</cp:revision>
  <dcterms:created xsi:type="dcterms:W3CDTF">2026-10-07T16:29:46Z</dcterms:created>
  <dcterms:modified xsi:type="dcterms:W3CDTF">2026-10-07T16:29:46Z</dcterms:modified>
</cp:coreProperties>
</file>