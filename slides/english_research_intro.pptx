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a8e77c1-4f27-d813-5812-ceee8774ae89}">
          <p14:sldIdLst>
            <p14:sldId id="256"/>
            <p14:sldId id="257"/>
          </p14:sldIdLst>
        </p14:section>
        <p14:section name="Undergraduate" id="{59f6dde8-0844-c6a1-209c-4147c9e7b111}">
          <p14:sldIdLst>
            <p14:sldId id="258"/>
            <p14:sldId id="259"/>
            <p14:sldId id="260"/>
          </p14:sldIdLst>
        </p14:section>
        <p14:section name="Master's" id="{e67f6d12-8dbc-85ef-6760-ad82032bf670}">
          <p14:sldIdLst>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Reina Ikeda, a first-year master's student at Tokyo Metropolitan University. I'll introduce my research on why users hesitate, from my thesis to my master's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Usability tests often use think-aloud: users speak their thoughts while operating a product. It reveals why people struggle, but talking while acting is a burden and can change behavior. My idea is to combine gaze, screen information and a large language model. My thesis predicted think-aloud; my master's research explains where and why users get stuck. I would especially like advice on the evaluation design and the sample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thesis, EsTA gives GPT-4 two inputs: gaze from a 120-hertz eye tracker, and UI information such as element coordinates and HTML. GPT-4 writes the think-aloud. The baseline, InTA, uses UI information only. Twenty students used good and bad UIs on shopping and video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the output with what participants actually said, using BERTScore. Every score exceeded 0.617, a machine-translation benchmark. Adding gaze changed the score by at most 0.012, and EsTA was slightly lower in three of four conditions. Reading the outputs, EsTA sometimes wrote thoughts that users never voiced.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cart-checking scene. The user said they would check the cart. The UI-only output skipped ahead to the budget. EsTA described adding shipping and confirming the budget, which was consistent with the gaze moving through the prices. This is a single example. It also shows the problem: EsTA can say too much, and time order was weakly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my master's research, the tool explains what users struggle with, and I measure how well. The input is gaze metrics, dwell time and visits per design technique, plus UI structure: HTML, CSS and task. The LLM writes which element, on which screen, and why it caused trouble. A human analyst's key points, covering where, when and why, are never given to the LLM. I score recall, and the over-claim rate, which makes saying too much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mock shopping and job-search sites. Each bad technique is grounded in the literature, for example decoys with similar names, shifting button positions, and low-contrast progress indicators. Each technique has its own version, plus one with all of them, so effects can be separated. Nothing scrolls, so gaze coordinates stay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Prototypes for both sites are done and a six-person pilot is planned. So far I only have a three-person preliminary study and a wiring check with mock LLM responses, so I cannot claim results. The main study will recruit forty to sixty-four participants. I would welcome advice on the evaluation design and the sample size.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052560" y="6382512"/>
            <a:ext cx="2011680" cy="292608"/>
          </a:xfrm>
          <a:prstGeom prst="rect">
            <a:avLst/>
          </a:prstGeom>
          <a:noFill/>
          <a:ln/>
        </p:spPr>
        <p:txBody>
          <a:bodyPr wrap="square" lIns="0" tIns="0" rIns="0" bIns="0" rtlCol="0" anchor="ctr"/>
          <a:lstStyle/>
          <a:p>
            <a:pPr algn="r" indent="0" marL="0">
              <a:buNone/>
            </a:pPr>
            <a:r>
              <a:rPr lang="en-US" sz="1800" dirty="0">
                <a:solidFill>
                  <a:schemeClr val="tx2"/>
                </a:solidFill>
              </a:rPr>
              <a:t>Reina Ikeda</a:t>
            </a:r>
            <a:endParaRPr lang="en-US" sz="18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filiation"/>
          <p:cNvSpPr txBox="1"/>
          <p:nvPr/>
        </p:nvSpPr>
        <p:spPr>
          <a:xfrm>
            <a:off x="274320" y="274320"/>
            <a:ext cx="6400800" cy="365760"/>
          </a:xfrm>
          <a:prstGeom prst="rect">
            <a:avLst/>
          </a:prstGeom>
          <a:noFill/>
          <a:ln/>
        </p:spPr>
        <p:txBody>
          <a:bodyPr wrap="square" lIns="0" tIns="0" rIns="0" bIns="0" rtlCol="0" anchor="ctr"/>
          <a:lstStyle/>
          <a:p>
            <a:pPr indent="0" marL="0">
              <a:buNone/>
            </a:pPr>
            <a:r>
              <a:rPr lang="en-US" sz="2000" b="1" dirty="0">
                <a:solidFill>
                  <a:schemeClr val="bg1"/>
                </a:solidFill>
              </a:rPr>
              <a:t>Tokyo Metropolitan University</a:t>
            </a:r>
            <a:endParaRPr lang="en-US" sz="2000" dirty="0"/>
          </a:p>
        </p:txBody>
      </p:sp>
      <p:sp>
        <p:nvSpPr>
          <p:cNvPr id="3" name="Title"/>
          <p:cNvSpPr txBox="1"/>
          <p:nvPr/>
        </p:nvSpPr>
        <p:spPr>
          <a:xfrm>
            <a:off x="1188720" y="1828800"/>
            <a:ext cx="10058400" cy="1280160"/>
          </a:xfrm>
          <a:prstGeom prst="rect">
            <a:avLst/>
          </a:prstGeom>
          <a:noFill/>
          <a:ln/>
        </p:spPr>
        <p:txBody>
          <a:bodyPr wrap="square" lIns="0" tIns="0" rIns="0" bIns="0" rtlCol="0" anchor="ctr"/>
          <a:lstStyle/>
          <a:p>
            <a:pPr indent="0" marL="0">
              <a:buNone/>
            </a:pPr>
            <a:r>
              <a:rPr lang="en-US" sz="5400" dirty="0">
                <a:solidFill>
                  <a:schemeClr val="bg1"/>
                </a:solidFill>
              </a:rPr>
              <a:t>Understanding Why Users Hesitate</a:t>
            </a:r>
            <a:endParaRPr lang="en-US" sz="5400" dirty="0"/>
          </a:p>
        </p:txBody>
      </p:sp>
      <p:sp>
        <p:nvSpPr>
          <p:cNvPr id="4" name="Subtitle"/>
          <p:cNvSpPr txBox="1"/>
          <p:nvPr/>
        </p:nvSpPr>
        <p:spPr>
          <a:xfrm>
            <a:off x="1188720" y="3291840"/>
            <a:ext cx="10058400" cy="548640"/>
          </a:xfrm>
          <a:prstGeom prst="rect">
            <a:avLst/>
          </a:prstGeom>
          <a:noFill/>
          <a:ln/>
        </p:spPr>
        <p:txBody>
          <a:bodyPr wrap="square" lIns="0" tIns="0" rIns="0" bIns="0" rtlCol="0" anchor="ctr"/>
          <a:lstStyle/>
          <a:p>
            <a:pPr indent="0" marL="0">
              <a:buNone/>
            </a:pPr>
            <a:r>
              <a:rPr lang="en-US" sz="2800" dirty="0">
                <a:solidFill>
                  <a:schemeClr val="bg1"/>
                </a:solidFill>
              </a:rPr>
              <a:t>From think-aloud prediction to LLM-based gaze interpretation</a:t>
            </a:r>
            <a:endParaRPr lang="en-US" sz="2800" dirty="0"/>
          </a:p>
        </p:txBody>
      </p:sp>
      <p:sp>
        <p:nvSpPr>
          <p:cNvPr id="5" name="Byline box"/>
          <p:cNvSpPr/>
          <p:nvPr/>
        </p:nvSpPr>
        <p:spPr>
          <a:xfrm>
            <a:off x="1188720" y="4754880"/>
            <a:ext cx="5120640" cy="594360"/>
          </a:xfrm>
          <a:prstGeom prst="rect">
            <a:avLst/>
          </a:prstGeom>
          <a:solidFill>
            <a:schemeClr val="tx2"/>
          </a:solidFill>
          <a:ln w="12700">
            <a:solidFill>
              <a:schemeClr val="bg1"/>
            </a:solidFill>
            <a:prstDash val="solid"/>
          </a:ln>
        </p:spPr>
      </p:sp>
      <p:sp>
        <p:nvSpPr>
          <p:cNvPr id="6" name="Byline"/>
          <p:cNvSpPr txBox="1"/>
          <p:nvPr/>
        </p:nvSpPr>
        <p:spPr>
          <a:xfrm>
            <a:off x="1188720" y="4754880"/>
            <a:ext cx="5120640" cy="594360"/>
          </a:xfrm>
          <a:prstGeom prst="rect">
            <a:avLst/>
          </a:prstGeom>
          <a:noFill/>
          <a:ln/>
        </p:spPr>
        <p:txBody>
          <a:bodyPr wrap="square" lIns="0" tIns="0" rIns="0" bIns="0" rtlCol="0" anchor="ctr"/>
          <a:lstStyle/>
          <a:p>
            <a:pPr algn="ctr" indent="0" marL="0">
              <a:buNone/>
            </a:pPr>
            <a:r>
              <a:rPr lang="en-US" sz="2000" dirty="0">
                <a:solidFill>
                  <a:schemeClr val="bg1"/>
                </a:solidFill>
              </a:rPr>
              <a:t>Reina Ikeda · Master's student, 1st year</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Background and objective</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Think-aloud explains hesitation, but it burdens users.</a:t>
            </a:r>
            <a:endParaRPr lang="en-US" sz="2800" dirty="0"/>
          </a:p>
        </p:txBody>
      </p:sp>
      <p:sp>
        <p:nvSpPr>
          <p:cNvPr id="5" name="Problem card"/>
          <p:cNvSpPr/>
          <p:nvPr/>
        </p:nvSpPr>
        <p:spPr>
          <a:xfrm>
            <a:off x="640080" y="1600200"/>
            <a:ext cx="3319272" cy="3108960"/>
          </a:xfrm>
          <a:prstGeom prst="roundRect">
            <a:avLst>
              <a:gd name="adj" fmla="val 2941"/>
            </a:avLst>
          </a:prstGeom>
          <a:solidFill>
            <a:schemeClr val="bg2"/>
          </a:solidFill>
          <a:ln w="12700">
            <a:solidFill>
              <a:srgbClr val="CCCCCC"/>
            </a:solidFill>
            <a:prstDash val="solid"/>
          </a:ln>
        </p:spPr>
      </p:sp>
      <p:sp>
        <p:nvSpPr>
          <p:cNvPr id="6" name="Problem text"/>
          <p:cNvSpPr txBox="1"/>
          <p:nvPr/>
        </p:nvSpPr>
        <p:spPr>
          <a:xfrm>
            <a:off x="731520" y="1691640"/>
            <a:ext cx="3136392" cy="2926080"/>
          </a:xfrm>
          <a:prstGeom prst="rect">
            <a:avLst/>
          </a:prstGeom>
          <a:noFill/>
          <a:ln/>
        </p:spPr>
        <p:txBody>
          <a:bodyPr wrap="square" lIns="1270" tIns="1270" rIns="1270" bIns="1270" rtlCol="0" anchor="t"/>
          <a:lstStyle/>
          <a:p>
            <a:pPr indent="0" marL="0">
              <a:buNone/>
            </a:pPr>
            <a:r>
              <a:rPr lang="en-US" sz="2400" b="1" dirty="0">
                <a:solidFill>
                  <a:schemeClr val="tx2"/>
                </a:solidFill>
              </a:rPr>
              <a:t>Problem</a:t>
            </a:r>
            <a:endParaRPr lang="en-US" sz="2000" dirty="0"/>
          </a:p>
          <a:p>
            <a:pPr indent="0" marL="0">
              <a:buNone/>
            </a:pPr>
            <a:r>
              <a:rPr lang="en-US" sz="2000" b="1" dirty="0">
                <a:solidFill>
                  <a:schemeClr val="tx1"/>
                </a:solidFill>
              </a:rPr>
              <a:t>Think-aloud shows why users struggle.</a:t>
            </a:r>
            <a:endParaRPr lang="en-US" sz="2000" dirty="0"/>
          </a:p>
          <a:p>
            <a:pPr indent="0" marL="0">
              <a:buNone/>
            </a:pPr>
            <a:r>
              <a:rPr lang="en-US" sz="2000" dirty="0">
                <a:solidFill>
                  <a:schemeClr val="accent3"/>
                </a:solidFill>
              </a:rPr>
              <a:t>Speaking while acting is a burden and can change behavior.</a:t>
            </a:r>
            <a:endParaRPr lang="en-US" sz="2000" dirty="0"/>
          </a:p>
        </p:txBody>
      </p:sp>
      <p:sp>
        <p:nvSpPr>
          <p:cNvPr id="7" name="Arrow 1"/>
          <p:cNvSpPr/>
          <p:nvPr/>
        </p:nvSpPr>
        <p:spPr>
          <a:xfrm>
            <a:off x="4005072" y="3154680"/>
            <a:ext cx="384048" cy="0"/>
          </a:xfrm>
          <a:prstGeom prst="line">
            <a:avLst/>
          </a:prstGeom>
          <a:noFill/>
          <a:ln w="19050">
            <a:solidFill>
              <a:schemeClr val="tx1"/>
            </a:solidFill>
            <a:prstDash val="solid"/>
            <a:tailEnd type="triangle"/>
          </a:ln>
        </p:spPr>
      </p:sp>
      <p:sp>
        <p:nvSpPr>
          <p:cNvPr id="8" name="Idea card"/>
          <p:cNvSpPr/>
          <p:nvPr/>
        </p:nvSpPr>
        <p:spPr>
          <a:xfrm>
            <a:off x="4434840" y="1600200"/>
            <a:ext cx="3319272" cy="3108960"/>
          </a:xfrm>
          <a:prstGeom prst="roundRect">
            <a:avLst>
              <a:gd name="adj" fmla="val 2941"/>
            </a:avLst>
          </a:prstGeom>
          <a:solidFill>
            <a:schemeClr val="accent6"/>
          </a:solidFill>
          <a:ln w="12700">
            <a:solidFill>
              <a:schemeClr val="accent5"/>
            </a:solidFill>
            <a:prstDash val="solid"/>
          </a:ln>
        </p:spPr>
      </p:sp>
      <p:sp>
        <p:nvSpPr>
          <p:cNvPr id="9" name="Idea text"/>
          <p:cNvSpPr txBox="1"/>
          <p:nvPr/>
        </p:nvSpPr>
        <p:spPr>
          <a:xfrm>
            <a:off x="4526280" y="1691640"/>
            <a:ext cx="3136392" cy="2926080"/>
          </a:xfrm>
          <a:prstGeom prst="rect">
            <a:avLst/>
          </a:prstGeom>
          <a:noFill/>
          <a:ln/>
        </p:spPr>
        <p:txBody>
          <a:bodyPr wrap="square" lIns="1270" tIns="1270" rIns="1270" bIns="1270" rtlCol="0" anchor="t"/>
          <a:lstStyle/>
          <a:p>
            <a:pPr indent="0" marL="0">
              <a:buNone/>
            </a:pPr>
            <a:r>
              <a:rPr lang="en-US" sz="2400" b="1" dirty="0">
                <a:solidFill>
                  <a:schemeClr val="tx2"/>
                </a:solidFill>
              </a:rPr>
              <a:t>Idea</a:t>
            </a:r>
            <a:endParaRPr lang="en-US" sz="2000" dirty="0"/>
          </a:p>
          <a:p>
            <a:pPr indent="0" marL="0">
              <a:buNone/>
            </a:pPr>
            <a:r>
              <a:rPr lang="en-US" sz="2000" b="1" dirty="0">
                <a:solidFill>
                  <a:schemeClr val="tx1"/>
                </a:solidFill>
              </a:rPr>
              <a:t>Gaze + UI information + LLM</a:t>
            </a:r>
            <a:endParaRPr lang="en-US" sz="2000" dirty="0"/>
          </a:p>
          <a:p>
            <a:pPr indent="0" marL="0">
              <a:buNone/>
            </a:pPr>
            <a:r>
              <a:rPr lang="en-US" sz="2000" dirty="0">
                <a:solidFill>
                  <a:schemeClr val="accent3"/>
                </a:solidFill>
              </a:rPr>
              <a:t>Understand hesitation without asking users to speak.</a:t>
            </a:r>
            <a:endParaRPr lang="en-US" sz="2000" dirty="0"/>
          </a:p>
        </p:txBody>
      </p:sp>
      <p:sp>
        <p:nvSpPr>
          <p:cNvPr id="10" name="Arrow 2"/>
          <p:cNvSpPr/>
          <p:nvPr/>
        </p:nvSpPr>
        <p:spPr>
          <a:xfrm>
            <a:off x="7799832" y="3154680"/>
            <a:ext cx="384048" cy="0"/>
          </a:xfrm>
          <a:prstGeom prst="line">
            <a:avLst/>
          </a:prstGeom>
          <a:noFill/>
          <a:ln w="19050">
            <a:solidFill>
              <a:schemeClr val="tx1"/>
            </a:solidFill>
            <a:prstDash val="solid"/>
            <a:tailEnd type="triangle"/>
          </a:ln>
        </p:spPr>
      </p:sp>
      <p:sp>
        <p:nvSpPr>
          <p:cNvPr id="11" name="Stages card"/>
          <p:cNvSpPr/>
          <p:nvPr/>
        </p:nvSpPr>
        <p:spPr>
          <a:xfrm>
            <a:off x="8229600" y="1600200"/>
            <a:ext cx="3319272" cy="3108960"/>
          </a:xfrm>
          <a:prstGeom prst="roundRect">
            <a:avLst>
              <a:gd name="adj" fmla="val 2941"/>
            </a:avLst>
          </a:prstGeom>
          <a:solidFill>
            <a:schemeClr val="bg2"/>
          </a:solidFill>
          <a:ln w="12700">
            <a:solidFill>
              <a:srgbClr val="CCCCCC"/>
            </a:solidFill>
            <a:prstDash val="solid"/>
          </a:ln>
        </p:spPr>
      </p:sp>
      <p:sp>
        <p:nvSpPr>
          <p:cNvPr id="12" name="Stages label"/>
          <p:cNvSpPr txBox="1"/>
          <p:nvPr/>
        </p:nvSpPr>
        <p:spPr>
          <a:xfrm>
            <a:off x="8321040" y="1691640"/>
            <a:ext cx="3136392" cy="411480"/>
          </a:xfrm>
          <a:prstGeom prst="rect">
            <a:avLst/>
          </a:prstGeom>
          <a:noFill/>
          <a:ln/>
        </p:spPr>
        <p:txBody>
          <a:bodyPr wrap="square" lIns="1270" tIns="1270" rIns="1270" bIns="1270" rtlCol="0" anchor="t"/>
          <a:lstStyle/>
          <a:p>
            <a:pPr indent="0" marL="0">
              <a:buNone/>
            </a:pPr>
            <a:r>
              <a:rPr lang="en-US" sz="2400" b="1" dirty="0">
                <a:solidFill>
                  <a:schemeClr val="tx2"/>
                </a:solidFill>
              </a:rPr>
              <a:t>Two stages</a:t>
            </a:r>
            <a:endParaRPr lang="en-US" sz="2400" dirty="0"/>
          </a:p>
        </p:txBody>
      </p:sp>
      <p:sp>
        <p:nvSpPr>
          <p:cNvPr id="13" name="Stage 1"/>
          <p:cNvSpPr/>
          <p:nvPr/>
        </p:nvSpPr>
        <p:spPr>
          <a:xfrm>
            <a:off x="8412480" y="2194560"/>
            <a:ext cx="2953512" cy="914400"/>
          </a:xfrm>
          <a:prstGeom prst="roundRect">
            <a:avLst>
              <a:gd name="adj" fmla="val 10000"/>
            </a:avLst>
          </a:prstGeom>
          <a:solidFill>
            <a:schemeClr val="bg1"/>
          </a:solidFill>
          <a:ln w="12700">
            <a:solidFill>
              <a:srgbClr val="CCCCCC"/>
            </a:solidFill>
            <a:prstDash val="solid"/>
          </a:ln>
        </p:spPr>
      </p:sp>
      <p:sp>
        <p:nvSpPr>
          <p:cNvPr id="14" name="Stage 1 text"/>
          <p:cNvSpPr txBox="1"/>
          <p:nvPr/>
        </p:nvSpPr>
        <p:spPr>
          <a:xfrm>
            <a:off x="8458200" y="2194560"/>
            <a:ext cx="2862072" cy="914400"/>
          </a:xfrm>
          <a:prstGeom prst="rect">
            <a:avLst/>
          </a:prstGeom>
          <a:noFill/>
          <a:ln/>
        </p:spPr>
        <p:txBody>
          <a:bodyPr wrap="square" lIns="1270" tIns="1270" rIns="1270" bIns="1270" rtlCol="0" anchor="ctr"/>
          <a:lstStyle/>
          <a:p>
            <a:pPr indent="0" marL="0">
              <a:buNone/>
            </a:pPr>
            <a:r>
              <a:rPr lang="en-US" sz="2000" b="1" dirty="0">
                <a:solidFill>
                  <a:schemeClr val="tx1"/>
                </a:solidFill>
              </a:rPr>
              <a:t>Undergraduate</a:t>
            </a:r>
            <a:endParaRPr lang="en-US" sz="2000" dirty="0"/>
          </a:p>
          <a:p>
            <a:pPr indent="0" marL="0">
              <a:buNone/>
            </a:pPr>
            <a:r>
              <a:rPr lang="en-US" sz="2000" dirty="0">
                <a:solidFill>
                  <a:schemeClr val="accent3"/>
                </a:solidFill>
              </a:rPr>
              <a:t>Predict think-aloud</a:t>
            </a:r>
            <a:endParaRPr lang="en-US" sz="2000" dirty="0"/>
          </a:p>
        </p:txBody>
      </p:sp>
      <p:sp>
        <p:nvSpPr>
          <p:cNvPr id="15" name="Stage arrow"/>
          <p:cNvSpPr/>
          <p:nvPr/>
        </p:nvSpPr>
        <p:spPr>
          <a:xfrm>
            <a:off x="9889236" y="3154680"/>
            <a:ext cx="0" cy="274320"/>
          </a:xfrm>
          <a:prstGeom prst="line">
            <a:avLst/>
          </a:prstGeom>
          <a:noFill/>
          <a:ln w="19050">
            <a:solidFill>
              <a:schemeClr val="tx1"/>
            </a:solidFill>
            <a:prstDash val="solid"/>
            <a:tailEnd type="triangle"/>
          </a:ln>
        </p:spPr>
      </p:sp>
      <p:sp>
        <p:nvSpPr>
          <p:cNvPr id="16" name="Stage 2"/>
          <p:cNvSpPr/>
          <p:nvPr/>
        </p:nvSpPr>
        <p:spPr>
          <a:xfrm>
            <a:off x="8412480" y="3474720"/>
            <a:ext cx="2953512" cy="1097280"/>
          </a:xfrm>
          <a:prstGeom prst="roundRect">
            <a:avLst>
              <a:gd name="adj" fmla="val 8333"/>
            </a:avLst>
          </a:prstGeom>
          <a:solidFill>
            <a:schemeClr val="tx2"/>
          </a:solidFill>
          <a:ln w="12700">
            <a:solidFill>
              <a:schemeClr val="tx2"/>
            </a:solidFill>
            <a:prstDash val="solid"/>
          </a:ln>
        </p:spPr>
      </p:sp>
      <p:sp>
        <p:nvSpPr>
          <p:cNvPr id="17" name="Stage 2 text"/>
          <p:cNvSpPr txBox="1"/>
          <p:nvPr/>
        </p:nvSpPr>
        <p:spPr>
          <a:xfrm>
            <a:off x="8458200" y="3474720"/>
            <a:ext cx="2862072" cy="1097280"/>
          </a:xfrm>
          <a:prstGeom prst="rect">
            <a:avLst/>
          </a:prstGeom>
          <a:noFill/>
          <a:ln/>
        </p:spPr>
        <p:txBody>
          <a:bodyPr wrap="square" lIns="1270" tIns="1270" rIns="1270" bIns="1270" rtlCol="0" anchor="ctr"/>
          <a:lstStyle/>
          <a:p>
            <a:pPr indent="0" marL="0">
              <a:buNone/>
            </a:pPr>
            <a:r>
              <a:rPr lang="en-US" sz="2000" b="1" dirty="0">
                <a:solidFill>
                  <a:schemeClr val="bg1"/>
                </a:solidFill>
              </a:rPr>
              <a:t>Master's</a:t>
            </a:r>
            <a:endParaRPr lang="en-US" sz="2000" dirty="0"/>
          </a:p>
          <a:p>
            <a:pPr indent="0" marL="0">
              <a:buNone/>
            </a:pPr>
            <a:r>
              <a:rPr lang="en-US" sz="2000" dirty="0">
                <a:solidFill>
                  <a:schemeClr val="bg1"/>
                </a:solidFill>
              </a:rPr>
              <a:t>Explain where and why</a:t>
            </a:r>
            <a:endParaRPr lang="en-US" sz="2000" dirty="0"/>
          </a:p>
        </p:txBody>
      </p:sp>
      <p:sp>
        <p:nvSpPr>
          <p:cNvPr id="18" name="Advice box"/>
          <p:cNvSpPr/>
          <p:nvPr/>
        </p:nvSpPr>
        <p:spPr>
          <a:xfrm>
            <a:off x="640080" y="5120640"/>
            <a:ext cx="10908792" cy="777240"/>
          </a:xfrm>
          <a:prstGeom prst="roundRect">
            <a:avLst>
              <a:gd name="adj" fmla="val 11765"/>
            </a:avLst>
          </a:prstGeom>
          <a:solidFill>
            <a:srgbClr val="FDEEEE"/>
          </a:solidFill>
          <a:ln w="12700">
            <a:solidFill>
              <a:srgbClr val="FE3939"/>
            </a:solidFill>
            <a:prstDash val="solid"/>
          </a:ln>
        </p:spPr>
      </p:sp>
      <p:sp>
        <p:nvSpPr>
          <p:cNvPr id="19" name="Advice text"/>
          <p:cNvSpPr txBox="1"/>
          <p:nvPr/>
        </p:nvSpPr>
        <p:spPr>
          <a:xfrm>
            <a:off x="777240" y="5120640"/>
            <a:ext cx="10607040" cy="777240"/>
          </a:xfrm>
          <a:prstGeom prst="rect">
            <a:avLst/>
          </a:prstGeom>
          <a:noFill/>
          <a:ln/>
        </p:spPr>
        <p:txBody>
          <a:bodyPr wrap="square" lIns="1270" tIns="1270" rIns="1270" bIns="1270" rtlCol="0" anchor="ctr"/>
          <a:lstStyle/>
          <a:p>
            <a:pPr indent="0" marL="0">
              <a:buNone/>
            </a:pPr>
            <a:r>
              <a:rPr lang="en-US" sz="2000" b="1" dirty="0">
                <a:solidFill>
                  <a:schemeClr val="accent4"/>
                </a:solidFill>
              </a:rPr>
              <a:t>Advice wanted: </a:t>
            </a:r>
            <a:pPr indent="0" marL="0">
              <a:buNone/>
            </a:pPr>
            <a:r>
              <a:rPr lang="en-US" sz="2000" dirty="0">
                <a:solidFill>
                  <a:schemeClr val="tx1"/>
                </a:solidFill>
              </a:rPr>
              <a:t>evaluation design and sample size</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Undergraduate thesis · method</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EsTA asks an LLM to write think-aloud from gaze and UI information.</a:t>
            </a:r>
            <a:endParaRPr lang="en-US" sz="2800" dirty="0"/>
          </a:p>
        </p:txBody>
      </p:sp>
      <p:sp>
        <p:nvSpPr>
          <p:cNvPr id="5" name="Gaze card"/>
          <p:cNvSpPr/>
          <p:nvPr/>
        </p:nvSpPr>
        <p:spPr>
          <a:xfrm>
            <a:off x="640080" y="1600200"/>
            <a:ext cx="3840480" cy="1371600"/>
          </a:xfrm>
          <a:prstGeom prst="roundRect">
            <a:avLst>
              <a:gd name="adj" fmla="val 6667"/>
            </a:avLst>
          </a:prstGeom>
          <a:solidFill>
            <a:schemeClr val="bg2"/>
          </a:solidFill>
          <a:ln w="12700">
            <a:solidFill>
              <a:srgbClr val="CCCCCC"/>
            </a:solidFill>
            <a:prstDash val="solid"/>
          </a:ln>
        </p:spPr>
      </p:sp>
      <p:sp>
        <p:nvSpPr>
          <p:cNvPr id="6" name="Gaze text"/>
          <p:cNvSpPr txBox="1"/>
          <p:nvPr/>
        </p:nvSpPr>
        <p:spPr>
          <a:xfrm>
            <a:off x="731520" y="1600200"/>
            <a:ext cx="3657600" cy="1371600"/>
          </a:xfrm>
          <a:prstGeom prst="rect">
            <a:avLst/>
          </a:prstGeom>
          <a:noFill/>
          <a:ln/>
        </p:spPr>
        <p:txBody>
          <a:bodyPr wrap="square" lIns="1270" tIns="1270" rIns="1270" bIns="1270" rtlCol="0" anchor="ctr"/>
          <a:lstStyle/>
          <a:p>
            <a:pPr indent="0" marL="0">
              <a:buNone/>
            </a:pPr>
            <a:r>
              <a:rPr lang="en-US" sz="2000" b="1" dirty="0">
                <a:solidFill>
                  <a:schemeClr val="tx1"/>
                </a:solidFill>
              </a:rPr>
              <a:t>Gaze (Tobii, 120 Hz)</a:t>
            </a:r>
            <a:endParaRPr lang="en-US" sz="2000" dirty="0"/>
          </a:p>
          <a:p>
            <a:pPr indent="0" marL="0">
              <a:buNone/>
            </a:pPr>
            <a:r>
              <a:rPr lang="en-US" sz="2000" dirty="0">
                <a:solidFill>
                  <a:schemeClr val="accent3"/>
                </a:solidFill>
              </a:rPr>
              <a:t>fixations, saccades, pupil size</a:t>
            </a:r>
            <a:endParaRPr lang="en-US" sz="2000" dirty="0"/>
          </a:p>
        </p:txBody>
      </p:sp>
      <p:sp>
        <p:nvSpPr>
          <p:cNvPr id="7" name="UI card"/>
          <p:cNvSpPr/>
          <p:nvPr/>
        </p:nvSpPr>
        <p:spPr>
          <a:xfrm>
            <a:off x="640080" y="3200400"/>
            <a:ext cx="3840480" cy="1371600"/>
          </a:xfrm>
          <a:prstGeom prst="roundRect">
            <a:avLst>
              <a:gd name="adj" fmla="val 6667"/>
            </a:avLst>
          </a:prstGeom>
          <a:solidFill>
            <a:schemeClr val="bg2"/>
          </a:solidFill>
          <a:ln w="12700">
            <a:solidFill>
              <a:srgbClr val="CCCCCC"/>
            </a:solidFill>
            <a:prstDash val="solid"/>
          </a:ln>
        </p:spPr>
      </p:sp>
      <p:sp>
        <p:nvSpPr>
          <p:cNvPr id="8" name="UI text"/>
          <p:cNvSpPr txBox="1"/>
          <p:nvPr/>
        </p:nvSpPr>
        <p:spPr>
          <a:xfrm>
            <a:off x="731520" y="3200400"/>
            <a:ext cx="3657600" cy="1371600"/>
          </a:xfrm>
          <a:prstGeom prst="rect">
            <a:avLst/>
          </a:prstGeom>
          <a:noFill/>
          <a:ln/>
        </p:spPr>
        <p:txBody>
          <a:bodyPr wrap="square" lIns="1270" tIns="1270" rIns="1270" bIns="1270" rtlCol="0" anchor="ctr"/>
          <a:lstStyle/>
          <a:p>
            <a:pPr indent="0" marL="0">
              <a:buNone/>
            </a:pPr>
            <a:r>
              <a:rPr lang="en-US" sz="2000" b="1" dirty="0">
                <a:solidFill>
                  <a:schemeClr val="tx1"/>
                </a:solidFill>
              </a:rPr>
              <a:t>UI information</a:t>
            </a:r>
            <a:endParaRPr lang="en-US" sz="2000" dirty="0"/>
          </a:p>
          <a:p>
            <a:pPr indent="0" marL="0">
              <a:buNone/>
            </a:pPr>
            <a:r>
              <a:rPr lang="en-US" sz="2000" dirty="0">
                <a:solidFill>
                  <a:schemeClr val="accent3"/>
                </a:solidFill>
              </a:rPr>
              <a:t>element coordinates, HTML</a:t>
            </a:r>
            <a:endParaRPr lang="en-US" sz="2000" dirty="0"/>
          </a:p>
        </p:txBody>
      </p:sp>
      <p:sp>
        <p:nvSpPr>
          <p:cNvPr id="9" name="Gaze to LLM"/>
          <p:cNvSpPr/>
          <p:nvPr/>
        </p:nvSpPr>
        <p:spPr>
          <a:xfrm>
            <a:off x="4526280" y="2286000"/>
            <a:ext cx="594360" cy="594360"/>
          </a:xfrm>
          <a:prstGeom prst="line">
            <a:avLst/>
          </a:prstGeom>
          <a:noFill/>
          <a:ln w="19050">
            <a:solidFill>
              <a:schemeClr val="tx1"/>
            </a:solidFill>
            <a:prstDash val="solid"/>
            <a:tailEnd type="triangle"/>
          </a:ln>
        </p:spPr>
      </p:sp>
      <p:sp>
        <p:nvSpPr>
          <p:cNvPr id="10" name="UI to LLM"/>
          <p:cNvSpPr/>
          <p:nvPr/>
        </p:nvSpPr>
        <p:spPr>
          <a:xfrm>
            <a:off x="4526280" y="3886200"/>
            <a:ext cx="594360" cy="-594360"/>
          </a:xfrm>
          <a:prstGeom prst="line">
            <a:avLst/>
          </a:prstGeom>
          <a:noFill/>
          <a:ln w="19050">
            <a:solidFill>
              <a:schemeClr val="tx1"/>
            </a:solidFill>
            <a:prstDash val="solid"/>
            <a:tailEnd type="triangle"/>
          </a:ln>
        </p:spPr>
      </p:sp>
      <p:sp>
        <p:nvSpPr>
          <p:cNvPr id="11" name="LLM card"/>
          <p:cNvSpPr/>
          <p:nvPr/>
        </p:nvSpPr>
        <p:spPr>
          <a:xfrm>
            <a:off x="5166360" y="2331720"/>
            <a:ext cx="1828800" cy="1554480"/>
          </a:xfrm>
          <a:prstGeom prst="roundRect">
            <a:avLst>
              <a:gd name="adj" fmla="val 5882"/>
            </a:avLst>
          </a:prstGeom>
          <a:solidFill>
            <a:schemeClr val="tx2"/>
          </a:solidFill>
          <a:ln w="12700">
            <a:solidFill>
              <a:schemeClr val="tx2"/>
            </a:solidFill>
            <a:prstDash val="solid"/>
          </a:ln>
        </p:spPr>
      </p:sp>
      <p:sp>
        <p:nvSpPr>
          <p:cNvPr id="12" name="LLM text"/>
          <p:cNvSpPr txBox="1"/>
          <p:nvPr/>
        </p:nvSpPr>
        <p:spPr>
          <a:xfrm>
            <a:off x="5166360" y="2331720"/>
            <a:ext cx="1828800" cy="1554480"/>
          </a:xfrm>
          <a:prstGeom prst="rect">
            <a:avLst/>
          </a:prstGeom>
          <a:noFill/>
          <a:ln/>
        </p:spPr>
        <p:txBody>
          <a:bodyPr wrap="square" lIns="1270" tIns="1270" rIns="1270" bIns="1270" rtlCol="0" anchor="ctr"/>
          <a:lstStyle/>
          <a:p>
            <a:pPr algn="ctr" indent="0" marL="0">
              <a:buNone/>
            </a:pPr>
            <a:r>
              <a:rPr lang="en-US" sz="2800" b="1" dirty="0">
                <a:solidFill>
                  <a:schemeClr val="bg1"/>
                </a:solidFill>
              </a:rPr>
              <a:t>GPT-4</a:t>
            </a:r>
            <a:endParaRPr lang="en-US" sz="2800" dirty="0"/>
          </a:p>
        </p:txBody>
      </p:sp>
      <p:sp>
        <p:nvSpPr>
          <p:cNvPr id="13" name="LLM to output"/>
          <p:cNvSpPr/>
          <p:nvPr/>
        </p:nvSpPr>
        <p:spPr>
          <a:xfrm>
            <a:off x="7040880" y="3108960"/>
            <a:ext cx="594360" cy="0"/>
          </a:xfrm>
          <a:prstGeom prst="line">
            <a:avLst/>
          </a:prstGeom>
          <a:noFill/>
          <a:ln w="19050">
            <a:solidFill>
              <a:schemeClr val="tx1"/>
            </a:solidFill>
            <a:prstDash val="solid"/>
            <a:tailEnd type="triangle"/>
          </a:ln>
        </p:spPr>
      </p:sp>
      <p:sp>
        <p:nvSpPr>
          <p:cNvPr id="14" name="Output card"/>
          <p:cNvSpPr/>
          <p:nvPr/>
        </p:nvSpPr>
        <p:spPr>
          <a:xfrm>
            <a:off x="7680960" y="2194560"/>
            <a:ext cx="3867912" cy="1828800"/>
          </a:xfrm>
          <a:prstGeom prst="roundRect">
            <a:avLst>
              <a:gd name="adj" fmla="val 5000"/>
            </a:avLst>
          </a:prstGeom>
          <a:solidFill>
            <a:schemeClr val="accent6"/>
          </a:solidFill>
          <a:ln w="12700">
            <a:solidFill>
              <a:schemeClr val="accent5"/>
            </a:solidFill>
            <a:prstDash val="solid"/>
          </a:ln>
        </p:spPr>
      </p:sp>
      <p:sp>
        <p:nvSpPr>
          <p:cNvPr id="15" name="Output text"/>
          <p:cNvSpPr txBox="1"/>
          <p:nvPr/>
        </p:nvSpPr>
        <p:spPr>
          <a:xfrm>
            <a:off x="7772400" y="2194560"/>
            <a:ext cx="3657600" cy="1828800"/>
          </a:xfrm>
          <a:prstGeom prst="rect">
            <a:avLst/>
          </a:prstGeom>
          <a:noFill/>
          <a:ln/>
        </p:spPr>
        <p:txBody>
          <a:bodyPr wrap="square" lIns="1270" tIns="1270" rIns="1270" bIns="1270" rtlCol="0" anchor="ctr"/>
          <a:lstStyle/>
          <a:p>
            <a:pPr indent="0" marL="0">
              <a:buNone/>
            </a:pPr>
            <a:r>
              <a:rPr lang="en-US" sz="2000" b="1" dirty="0">
                <a:solidFill>
                  <a:schemeClr val="tx2"/>
                </a:solidFill>
              </a:rPr>
              <a:t>Predicted think-aloud</a:t>
            </a:r>
            <a:endParaRPr lang="en-US" sz="2000" dirty="0"/>
          </a:p>
          <a:p>
            <a:pPr indent="0" marL="0">
              <a:buNone/>
            </a:pPr>
            <a:r>
              <a:rPr lang="en-US" sz="2000" dirty="0">
                <a:solidFill>
                  <a:schemeClr val="accent3"/>
                </a:solidFill>
              </a:rPr>
              <a:t>natural text, including doubt</a:t>
            </a:r>
            <a:endParaRPr lang="en-US" sz="2000" dirty="0"/>
          </a:p>
        </p:txBody>
      </p:sp>
      <p:sp>
        <p:nvSpPr>
          <p:cNvPr id="16" name="Baseline card"/>
          <p:cNvSpPr/>
          <p:nvPr/>
        </p:nvSpPr>
        <p:spPr>
          <a:xfrm>
            <a:off x="640080" y="4846320"/>
            <a:ext cx="5394960" cy="1097280"/>
          </a:xfrm>
          <a:prstGeom prst="roundRect">
            <a:avLst>
              <a:gd name="adj" fmla="val 8333"/>
            </a:avLst>
          </a:prstGeom>
          <a:solidFill>
            <a:schemeClr val="bg1"/>
          </a:solidFill>
          <a:ln w="12700">
            <a:solidFill>
              <a:srgbClr val="CCCCCC"/>
            </a:solidFill>
            <a:prstDash val="solid"/>
          </a:ln>
        </p:spPr>
      </p:sp>
      <p:sp>
        <p:nvSpPr>
          <p:cNvPr id="17" name="Baseline text"/>
          <p:cNvSpPr txBox="1"/>
          <p:nvPr/>
        </p:nvSpPr>
        <p:spPr>
          <a:xfrm>
            <a:off x="777240" y="4846320"/>
            <a:ext cx="5120640" cy="1097280"/>
          </a:xfrm>
          <a:prstGeom prst="rect">
            <a:avLst/>
          </a:prstGeom>
          <a:noFill/>
          <a:ln/>
        </p:spPr>
        <p:txBody>
          <a:bodyPr wrap="square" lIns="1270" tIns="1270" rIns="1270" bIns="1270" rtlCol="0" anchor="ctr"/>
          <a:lstStyle/>
          <a:p>
            <a:pPr indent="0" marL="0">
              <a:buNone/>
            </a:pPr>
            <a:r>
              <a:rPr lang="en-US" sz="2000" b="1" dirty="0">
                <a:solidFill>
                  <a:schemeClr val="accent4"/>
                </a:solidFill>
              </a:rPr>
              <a:t>Baseline InTA: </a:t>
            </a:r>
            <a:pPr indent="0" marL="0">
              <a:buNone/>
            </a:pPr>
            <a:r>
              <a:rPr lang="en-US" sz="2000" dirty="0">
                <a:solidFill>
                  <a:schemeClr val="tx1"/>
                </a:solidFill>
              </a:rPr>
              <a:t>UI information only</a:t>
            </a:r>
            <a:endParaRPr lang="en-US" sz="2000" dirty="0"/>
          </a:p>
        </p:txBody>
      </p:sp>
      <p:sp>
        <p:nvSpPr>
          <p:cNvPr id="18" name="Study card"/>
          <p:cNvSpPr/>
          <p:nvPr/>
        </p:nvSpPr>
        <p:spPr>
          <a:xfrm>
            <a:off x="6172200" y="4846320"/>
            <a:ext cx="5376672" cy="1097280"/>
          </a:xfrm>
          <a:prstGeom prst="roundRect">
            <a:avLst>
              <a:gd name="adj" fmla="val 8333"/>
            </a:avLst>
          </a:prstGeom>
          <a:solidFill>
            <a:schemeClr val="bg1"/>
          </a:solidFill>
          <a:ln w="12700">
            <a:solidFill>
              <a:srgbClr val="CCCCCC"/>
            </a:solidFill>
            <a:prstDash val="solid"/>
          </a:ln>
        </p:spPr>
      </p:sp>
      <p:sp>
        <p:nvSpPr>
          <p:cNvPr id="19" name="Study text"/>
          <p:cNvSpPr txBox="1"/>
          <p:nvPr/>
        </p:nvSpPr>
        <p:spPr>
          <a:xfrm>
            <a:off x="6309360" y="4846320"/>
            <a:ext cx="5120640" cy="1097280"/>
          </a:xfrm>
          <a:prstGeom prst="rect">
            <a:avLst/>
          </a:prstGeom>
          <a:noFill/>
          <a:ln/>
        </p:spPr>
        <p:txBody>
          <a:bodyPr wrap="square" lIns="1270" tIns="1270" rIns="1270" bIns="1270" rtlCol="0" anchor="ctr"/>
          <a:lstStyle/>
          <a:p>
            <a:pPr indent="0" marL="0">
              <a:buNone/>
            </a:pPr>
            <a:r>
              <a:rPr lang="en-US" sz="2000" b="1" dirty="0">
                <a:solidFill>
                  <a:schemeClr val="tx2"/>
                </a:solidFill>
              </a:rPr>
              <a:t>20 students: </a:t>
            </a:r>
            <a:pPr indent="0" marL="0">
              <a:buNone/>
            </a:pPr>
            <a:r>
              <a:rPr lang="en-US" sz="2000" dirty="0">
                <a:solidFill>
                  <a:schemeClr val="tx1"/>
                </a:solidFill>
              </a:rPr>
              <a:t>Good/Bad UI × shopping/video</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Undergraduate thesis · result</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Adding gaze changed BERTScore by no more than 0.012 in any condition.</a:t>
            </a:r>
            <a:endParaRPr lang="en-US" sz="2800" dirty="0"/>
          </a:p>
        </p:txBody>
      </p:sp>
      <p:graphicFrame>
        <p:nvGraphicFramePr>
          <p:cNvPr id="5" name="BERTScore table"/>
          <p:cNvGraphicFramePr>
            <a:graphicFrameLocks noGrp="1"/>
          </p:cNvGraphicFramePr>
          <p:nvPr>
            <p:extLst>
              <p:ext uri="{D42A27DB-BD31-4B8C-83A1-F6EECF244321}">
                <p14:modId xmlns:p14="http://schemas.microsoft.com/office/powerpoint/2010/main" val="1579011935"/>
              </p:ext>
            </p:extLst>
          </p:nvPr>
        </p:nvGraphicFramePr>
        <p:xfrm>
          <a:off x="640080" y="1600200"/>
          <a:ext cx="6766560" cy="914400"/>
        </p:xfrm>
        <a:graphic>
          <a:graphicData uri="http://schemas.openxmlformats.org/drawingml/2006/table">
            <a:tbl>
              <a:tblPr/>
              <a:tblGrid>
                <a:gridCol w="1828800"/>
                <a:gridCol w="1554480"/>
                <a:gridCol w="1554480"/>
                <a:gridCol w="1828800"/>
              </a:tblGrid>
              <a:tr h="685800">
                <a:tc>
                  <a:txBody>
                    <a:bodyPr/>
                    <a:lstStyle/>
                    <a:p>
                      <a:pPr algn="l" indent="0" marL="0">
                        <a:buNone/>
                      </a:pPr>
                      <a:r>
                        <a:rPr lang="en-US" sz="2000" b="1" dirty="0">
                          <a:solidFill>
                            <a:schemeClr val="bg1"/>
                          </a:solidFill>
                        </a:rPr>
                        <a:t>BERTScore</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tx2"/>
                    </a:solidFill>
                  </a:tcPr>
                </a:tc>
                <a:tc>
                  <a:txBody>
                    <a:bodyPr/>
                    <a:lstStyle/>
                    <a:p>
                      <a:pPr algn="ctr" indent="0" marL="0">
                        <a:buNone/>
                      </a:pPr>
                      <a:r>
                        <a:rPr lang="en-US" sz="2000" b="1" dirty="0">
                          <a:solidFill>
                            <a:schemeClr val="bg1"/>
                          </a:solidFill>
                        </a:rPr>
                        <a:t>InTA</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tx2"/>
                    </a:solidFill>
                  </a:tcPr>
                </a:tc>
                <a:tc>
                  <a:txBody>
                    <a:bodyPr/>
                    <a:lstStyle/>
                    <a:p>
                      <a:pPr algn="ctr" indent="0" marL="0">
                        <a:buNone/>
                      </a:pPr>
                      <a:r>
                        <a:rPr lang="en-US" sz="2000" b="1" dirty="0">
                          <a:solidFill>
                            <a:schemeClr val="bg1"/>
                          </a:solidFill>
                        </a:rPr>
                        <a:t>EsTA</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tx2"/>
                    </a:solidFill>
                  </a:tcPr>
                </a:tc>
                <a:tc>
                  <a:txBody>
                    <a:bodyPr/>
                    <a:lstStyle/>
                    <a:p>
                      <a:pPr algn="ctr" indent="0" marL="0">
                        <a:buNone/>
                      </a:pPr>
                      <a:r>
                        <a:rPr lang="en-US" sz="2000" b="1" dirty="0">
                          <a:solidFill>
                            <a:schemeClr val="bg1"/>
                          </a:solidFill>
                        </a:rPr>
                        <a:t>EsTA − InTA</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tx2"/>
                    </a:solidFill>
                  </a:tcPr>
                </a:tc>
              </a:tr>
              <a:tr h="685800">
                <a:tc>
                  <a:txBody>
                    <a:bodyPr/>
                    <a:lstStyle/>
                    <a:p>
                      <a:pPr algn="l" indent="0" marL="0">
                        <a:buNone/>
                      </a:pPr>
                      <a:r>
                        <a:rPr lang="en-US" sz="2000" b="1" dirty="0">
                          <a:solidFill>
                            <a:schemeClr val="tx1"/>
                          </a:solidFill>
                        </a:rPr>
                        <a:t>Good A</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0.680</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0.673</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b="1" dirty="0">
                          <a:solidFill>
                            <a:schemeClr val="accent4"/>
                          </a:solidFill>
                        </a:rPr>
                        <a:t>−0.007</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r>
              <a:tr h="685800">
                <a:tc>
                  <a:txBody>
                    <a:bodyPr/>
                    <a:lstStyle/>
                    <a:p>
                      <a:pPr algn="l" indent="0" marL="0">
                        <a:buNone/>
                      </a:pPr>
                      <a:r>
                        <a:rPr lang="en-US" sz="2000" b="1" dirty="0">
                          <a:solidFill>
                            <a:schemeClr val="tx1"/>
                          </a:solidFill>
                        </a:rPr>
                        <a:t>Bad A</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0.683</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0.677</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b="1" dirty="0">
                          <a:solidFill>
                            <a:schemeClr val="accent4"/>
                          </a:solidFill>
                        </a:rPr>
                        <a:t>−0.006</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r>
              <a:tr h="685800">
                <a:tc>
                  <a:txBody>
                    <a:bodyPr/>
                    <a:lstStyle/>
                    <a:p>
                      <a:pPr algn="l" indent="0" marL="0">
                        <a:buNone/>
                      </a:pPr>
                      <a:r>
                        <a:rPr lang="en-US" sz="2000" b="1" dirty="0">
                          <a:solidFill>
                            <a:schemeClr val="tx1"/>
                          </a:solidFill>
                        </a:rPr>
                        <a:t>Good B</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0.691</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0.688</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b="1" dirty="0">
                          <a:solidFill>
                            <a:schemeClr val="accent4"/>
                          </a:solidFill>
                        </a:rPr>
                        <a:t>−0.003</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r>
              <a:tr h="685800">
                <a:tc>
                  <a:txBody>
                    <a:bodyPr/>
                    <a:lstStyle/>
                    <a:p>
                      <a:pPr algn="l" indent="0" marL="0">
                        <a:buNone/>
                      </a:pPr>
                      <a:r>
                        <a:rPr lang="en-US" sz="2000" b="1" dirty="0">
                          <a:solidFill>
                            <a:schemeClr val="tx1"/>
                          </a:solidFill>
                        </a:rPr>
                        <a:t>Bad B</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0.670</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0.682</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c>
                  <a:txBody>
                    <a:bodyPr/>
                    <a:lstStyle/>
                    <a:p>
                      <a:pPr algn="ctr" indent="0" marL="0">
                        <a:buNone/>
                      </a:pPr>
                      <a:r>
                        <a:rPr lang="en-US" sz="2000" b="1" dirty="0">
                          <a:solidFill>
                            <a:schemeClr val="accent1"/>
                          </a:solidFill>
                        </a:rPr>
                        <a:t>+0.012</a:t>
                      </a:r>
                      <a:endParaRPr lang="en-US" sz="2000" dirty="0"/>
                    </a:p>
                  </a:txBody>
                  <a:tcPr marL="91440" marR="91440" marT="45720" marB="4572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chemeClr val="bg1"/>
                    </a:solidFill>
                  </a:tcPr>
                </a:tc>
              </a:tr>
            </a:tbl>
          </a:graphicData>
        </a:graphic>
      </p:graphicFrame>
      <p:sp>
        <p:nvSpPr>
          <p:cNvPr id="6" name="Table note"/>
          <p:cNvSpPr txBox="1"/>
          <p:nvPr/>
        </p:nvSpPr>
        <p:spPr>
          <a:xfrm>
            <a:off x="640080" y="5120640"/>
            <a:ext cx="6766560" cy="365760"/>
          </a:xfrm>
          <a:prstGeom prst="rect">
            <a:avLst/>
          </a:prstGeom>
          <a:noFill/>
          <a:ln/>
        </p:spPr>
        <p:txBody>
          <a:bodyPr wrap="square" lIns="0" tIns="0" rIns="0" bIns="0" rtlCol="0" anchor="t"/>
          <a:lstStyle/>
          <a:p>
            <a:pPr indent="0" marL="0">
              <a:buNone/>
            </a:pPr>
            <a:r>
              <a:rPr lang="en-US" sz="1800" dirty="0">
                <a:solidFill>
                  <a:schemeClr val="accent3"/>
                </a:solidFill>
              </a:rPr>
              <a:t>A = e-commerce, B = video streaming. n = 20 students.</a:t>
            </a:r>
            <a:endParaRPr lang="en-US" sz="1800" dirty="0"/>
          </a:p>
        </p:txBody>
      </p:sp>
      <p:sp>
        <p:nvSpPr>
          <p:cNvPr id="7" name="Callout 1"/>
          <p:cNvSpPr/>
          <p:nvPr/>
        </p:nvSpPr>
        <p:spPr>
          <a:xfrm>
            <a:off x="7772400" y="1600200"/>
            <a:ext cx="3776472" cy="1554480"/>
          </a:xfrm>
          <a:prstGeom prst="roundRect">
            <a:avLst>
              <a:gd name="adj" fmla="val 5882"/>
            </a:avLst>
          </a:prstGeom>
          <a:solidFill>
            <a:schemeClr val="bg2"/>
          </a:solidFill>
          <a:ln w="12700">
            <a:solidFill>
              <a:srgbClr val="CCCCCC"/>
            </a:solidFill>
            <a:prstDash val="solid"/>
          </a:ln>
        </p:spPr>
      </p:sp>
      <p:sp>
        <p:nvSpPr>
          <p:cNvPr id="8" name="Callout 1 text"/>
          <p:cNvSpPr txBox="1"/>
          <p:nvPr/>
        </p:nvSpPr>
        <p:spPr>
          <a:xfrm>
            <a:off x="7863840" y="1600200"/>
            <a:ext cx="3593592" cy="1554480"/>
          </a:xfrm>
          <a:prstGeom prst="rect">
            <a:avLst/>
          </a:prstGeom>
          <a:noFill/>
          <a:ln/>
        </p:spPr>
        <p:txBody>
          <a:bodyPr wrap="square" lIns="1270" tIns="1270" rIns="1270" bIns="1270" rtlCol="0" anchor="ctr"/>
          <a:lstStyle/>
          <a:p>
            <a:pPr indent="0" marL="0">
              <a:buNone/>
            </a:pPr>
            <a:r>
              <a:rPr lang="en-US" sz="2000" b="1" dirty="0">
                <a:solidFill>
                  <a:schemeClr val="tx2"/>
                </a:solidFill>
              </a:rPr>
              <a:t>All scores above 0.617</a:t>
            </a:r>
            <a:endParaRPr lang="en-US" sz="2000" dirty="0"/>
          </a:p>
          <a:p>
            <a:pPr indent="0" marL="0">
              <a:buNone/>
            </a:pPr>
            <a:r>
              <a:rPr lang="en-US" sz="2000" dirty="0">
                <a:solidFill>
                  <a:schemeClr val="accent3"/>
                </a:solidFill>
              </a:rPr>
              <a:t>WMT24 benchmark</a:t>
            </a:r>
            <a:endParaRPr lang="en-US" sz="2000" dirty="0"/>
          </a:p>
        </p:txBody>
      </p:sp>
      <p:sp>
        <p:nvSpPr>
          <p:cNvPr id="9" name="Callout 2"/>
          <p:cNvSpPr/>
          <p:nvPr/>
        </p:nvSpPr>
        <p:spPr>
          <a:xfrm>
            <a:off x="7772400" y="3383280"/>
            <a:ext cx="3776472" cy="1874520"/>
          </a:xfrm>
          <a:prstGeom prst="roundRect">
            <a:avLst>
              <a:gd name="adj" fmla="val 4878"/>
            </a:avLst>
          </a:prstGeom>
          <a:solidFill>
            <a:schemeClr val="accent6"/>
          </a:solidFill>
          <a:ln w="12700">
            <a:solidFill>
              <a:schemeClr val="accent5"/>
            </a:solidFill>
            <a:prstDash val="solid"/>
          </a:ln>
        </p:spPr>
      </p:sp>
      <p:sp>
        <p:nvSpPr>
          <p:cNvPr id="10" name="Callout 2 text"/>
          <p:cNvSpPr txBox="1"/>
          <p:nvPr/>
        </p:nvSpPr>
        <p:spPr>
          <a:xfrm>
            <a:off x="7863840" y="3383280"/>
            <a:ext cx="3593592" cy="1874520"/>
          </a:xfrm>
          <a:prstGeom prst="rect">
            <a:avLst/>
          </a:prstGeom>
          <a:noFill/>
          <a:ln/>
        </p:spPr>
        <p:txBody>
          <a:bodyPr wrap="square" lIns="1270" tIns="1270" rIns="1270" bIns="1270" rtlCol="0" anchor="ctr"/>
          <a:lstStyle/>
          <a:p>
            <a:pPr indent="0" marL="0">
              <a:buNone/>
            </a:pPr>
            <a:r>
              <a:rPr lang="en-US" sz="2000" b="1" dirty="0">
                <a:solidFill>
                  <a:schemeClr val="tx1"/>
                </a:solidFill>
              </a:rPr>
              <a:t>EsTA sometimes wrote thoughts users never voiced.</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Undergraduate thesis · example</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In one cart scene, EsTA wrote a budget check consistent with the gaze.</a:t>
            </a:r>
            <a:endParaRPr lang="en-US" sz="2800" dirty="0"/>
          </a:p>
        </p:txBody>
      </p:sp>
      <p:sp>
        <p:nvSpPr>
          <p:cNvPr id="5" name="Quote card 1"/>
          <p:cNvSpPr/>
          <p:nvPr/>
        </p:nvSpPr>
        <p:spPr>
          <a:xfrm>
            <a:off x="640080" y="1600200"/>
            <a:ext cx="3502152" cy="3291840"/>
          </a:xfrm>
          <a:prstGeom prst="roundRect">
            <a:avLst>
              <a:gd name="adj" fmla="val 2778"/>
            </a:avLst>
          </a:prstGeom>
          <a:solidFill>
            <a:schemeClr val="bg2"/>
          </a:solidFill>
          <a:ln w="12700">
            <a:solidFill>
              <a:srgbClr val="CCCCCC"/>
            </a:solidFill>
            <a:prstDash val="solid"/>
          </a:ln>
        </p:spPr>
      </p:sp>
      <p:sp>
        <p:nvSpPr>
          <p:cNvPr id="6" name="Quote label 1"/>
          <p:cNvSpPr txBox="1"/>
          <p:nvPr/>
        </p:nvSpPr>
        <p:spPr>
          <a:xfrm>
            <a:off x="777240" y="1737360"/>
            <a:ext cx="3227832" cy="457200"/>
          </a:xfrm>
          <a:prstGeom prst="rect">
            <a:avLst/>
          </a:prstGeom>
          <a:noFill/>
          <a:ln/>
        </p:spPr>
        <p:txBody>
          <a:bodyPr wrap="square" lIns="1270" tIns="1270" rIns="1270" bIns="1270" rtlCol="0" anchor="t"/>
          <a:lstStyle/>
          <a:p>
            <a:pPr indent="0" marL="0">
              <a:buNone/>
            </a:pPr>
            <a:r>
              <a:rPr lang="en-US" sz="2000" b="1" dirty="0">
                <a:solidFill>
                  <a:schemeClr val="tx1"/>
                </a:solidFill>
              </a:rPr>
              <a:t>Actual utterance</a:t>
            </a:r>
            <a:endParaRPr lang="en-US" sz="2000" dirty="0"/>
          </a:p>
        </p:txBody>
      </p:sp>
      <p:sp>
        <p:nvSpPr>
          <p:cNvPr id="7" name="Quote body 1"/>
          <p:cNvSpPr txBox="1"/>
          <p:nvPr/>
        </p:nvSpPr>
        <p:spPr>
          <a:xfrm>
            <a:off x="777240" y="2286000"/>
            <a:ext cx="3227832" cy="2468880"/>
          </a:xfrm>
          <a:prstGeom prst="rect">
            <a:avLst/>
          </a:prstGeom>
          <a:noFill/>
          <a:ln/>
        </p:spPr>
        <p:txBody>
          <a:bodyPr wrap="square" lIns="1270" tIns="1270" rIns="1270" bIns="1270" rtlCol="0" anchor="t"/>
          <a:lstStyle/>
          <a:p>
            <a:pPr indent="0" marL="0">
              <a:buNone/>
            </a:pPr>
            <a:r>
              <a:rPr lang="en-US" sz="2000" i="1" dirty="0">
                <a:solidFill>
                  <a:schemeClr val="tx1"/>
                </a:solidFill>
              </a:rPr>
              <a:t>“Now I have all four items, so let me check the cart.”</a:t>
            </a:r>
            <a:endParaRPr lang="en-US" sz="2000" dirty="0"/>
          </a:p>
        </p:txBody>
      </p:sp>
      <p:sp>
        <p:nvSpPr>
          <p:cNvPr id="8" name="Quote card 2"/>
          <p:cNvSpPr/>
          <p:nvPr/>
        </p:nvSpPr>
        <p:spPr>
          <a:xfrm>
            <a:off x="4343400" y="1600200"/>
            <a:ext cx="3502152" cy="3291840"/>
          </a:xfrm>
          <a:prstGeom prst="roundRect">
            <a:avLst>
              <a:gd name="adj" fmla="val 2778"/>
            </a:avLst>
          </a:prstGeom>
          <a:solidFill>
            <a:schemeClr val="bg2"/>
          </a:solidFill>
          <a:ln w="12700">
            <a:solidFill>
              <a:srgbClr val="CCCCCC"/>
            </a:solidFill>
            <a:prstDash val="solid"/>
          </a:ln>
        </p:spPr>
      </p:sp>
      <p:sp>
        <p:nvSpPr>
          <p:cNvPr id="9" name="Quote label 2"/>
          <p:cNvSpPr txBox="1"/>
          <p:nvPr/>
        </p:nvSpPr>
        <p:spPr>
          <a:xfrm>
            <a:off x="4480560" y="1737360"/>
            <a:ext cx="3227832" cy="457200"/>
          </a:xfrm>
          <a:prstGeom prst="rect">
            <a:avLst/>
          </a:prstGeom>
          <a:noFill/>
          <a:ln/>
        </p:spPr>
        <p:txBody>
          <a:bodyPr wrap="square" lIns="1270" tIns="1270" rIns="1270" bIns="1270" rtlCol="0" anchor="t"/>
          <a:lstStyle/>
          <a:p>
            <a:pPr indent="0" marL="0">
              <a:buNone/>
            </a:pPr>
            <a:r>
              <a:rPr lang="en-US" sz="2000" b="1" dirty="0">
                <a:solidFill>
                  <a:schemeClr val="tx1"/>
                </a:solidFill>
              </a:rPr>
              <a:t>InTA (UI only)</a:t>
            </a:r>
            <a:endParaRPr lang="en-US" sz="2000" dirty="0"/>
          </a:p>
        </p:txBody>
      </p:sp>
      <p:sp>
        <p:nvSpPr>
          <p:cNvPr id="10" name="Quote body 2"/>
          <p:cNvSpPr txBox="1"/>
          <p:nvPr/>
        </p:nvSpPr>
        <p:spPr>
          <a:xfrm>
            <a:off x="4480560" y="2286000"/>
            <a:ext cx="3227832" cy="2468880"/>
          </a:xfrm>
          <a:prstGeom prst="rect">
            <a:avLst/>
          </a:prstGeom>
          <a:noFill/>
          <a:ln/>
        </p:spPr>
        <p:txBody>
          <a:bodyPr wrap="square" lIns="1270" tIns="1270" rIns="1270" bIns="1270" rtlCol="0" anchor="t"/>
          <a:lstStyle/>
          <a:p>
            <a:pPr indent="0" marL="0">
              <a:buNone/>
            </a:pPr>
            <a:r>
              <a:rPr lang="en-US" sz="2000" i="1" dirty="0">
                <a:solidFill>
                  <a:schemeClr val="tx1"/>
                </a:solidFill>
              </a:rPr>
              <a:t>“…items complete, I’ll check the budget later.”</a:t>
            </a:r>
            <a:endParaRPr lang="en-US" sz="2000" dirty="0"/>
          </a:p>
        </p:txBody>
      </p:sp>
      <p:sp>
        <p:nvSpPr>
          <p:cNvPr id="11" name="Quote card 3"/>
          <p:cNvSpPr/>
          <p:nvPr/>
        </p:nvSpPr>
        <p:spPr>
          <a:xfrm>
            <a:off x="8046720" y="1600200"/>
            <a:ext cx="3502152" cy="3291840"/>
          </a:xfrm>
          <a:prstGeom prst="roundRect">
            <a:avLst>
              <a:gd name="adj" fmla="val 2778"/>
            </a:avLst>
          </a:prstGeom>
          <a:solidFill>
            <a:schemeClr val="accent6"/>
          </a:solidFill>
          <a:ln w="12700">
            <a:solidFill>
              <a:schemeClr val="accent5"/>
            </a:solidFill>
            <a:prstDash val="solid"/>
          </a:ln>
        </p:spPr>
      </p:sp>
      <p:sp>
        <p:nvSpPr>
          <p:cNvPr id="12" name="Quote label 3"/>
          <p:cNvSpPr txBox="1"/>
          <p:nvPr/>
        </p:nvSpPr>
        <p:spPr>
          <a:xfrm>
            <a:off x="8183880" y="1737360"/>
            <a:ext cx="3227832" cy="457200"/>
          </a:xfrm>
          <a:prstGeom prst="rect">
            <a:avLst/>
          </a:prstGeom>
          <a:noFill/>
          <a:ln/>
        </p:spPr>
        <p:txBody>
          <a:bodyPr wrap="square" lIns="1270" tIns="1270" rIns="1270" bIns="1270" rtlCol="0" anchor="t"/>
          <a:lstStyle/>
          <a:p>
            <a:pPr indent="0" marL="0">
              <a:buNone/>
            </a:pPr>
            <a:r>
              <a:rPr lang="en-US" sz="2000" b="1" dirty="0">
                <a:solidFill>
                  <a:schemeClr val="tx2"/>
                </a:solidFill>
              </a:rPr>
              <a:t>EsTA (gaze + UI)</a:t>
            </a:r>
            <a:endParaRPr lang="en-US" sz="2000" dirty="0"/>
          </a:p>
        </p:txBody>
      </p:sp>
      <p:sp>
        <p:nvSpPr>
          <p:cNvPr id="13" name="Quote body 3"/>
          <p:cNvSpPr txBox="1"/>
          <p:nvPr/>
        </p:nvSpPr>
        <p:spPr>
          <a:xfrm>
            <a:off x="8183880" y="2286000"/>
            <a:ext cx="3227832" cy="2468880"/>
          </a:xfrm>
          <a:prstGeom prst="rect">
            <a:avLst/>
          </a:prstGeom>
          <a:noFill/>
          <a:ln/>
        </p:spPr>
        <p:txBody>
          <a:bodyPr wrap="square" lIns="1270" tIns="1270" rIns="1270" bIns="1270" rtlCol="0" anchor="t"/>
          <a:lstStyle/>
          <a:p>
            <a:pPr indent="0" marL="0">
              <a:buNone/>
            </a:pPr>
            <a:r>
              <a:rPr lang="en-US" sz="2000" i="1" dirty="0">
                <a:solidFill>
                  <a:schemeClr val="tx1"/>
                </a:solidFill>
              </a:rPr>
              <a:t>“…¥12,400, plus ¥500 shipping makes ¥12,900, within the ¥14,000 budget.”</a:t>
            </a:r>
            <a:endParaRPr lang="en-US" sz="2000" dirty="0"/>
          </a:p>
        </p:txBody>
      </p:sp>
      <p:sp>
        <p:nvSpPr>
          <p:cNvPr id="14" name="Example note"/>
          <p:cNvSpPr txBox="1"/>
          <p:nvPr/>
        </p:nvSpPr>
        <p:spPr>
          <a:xfrm>
            <a:off x="640080" y="5120640"/>
            <a:ext cx="10881360" cy="731520"/>
          </a:xfrm>
          <a:prstGeom prst="rect">
            <a:avLst/>
          </a:prstGeom>
          <a:noFill/>
          <a:ln/>
        </p:spPr>
        <p:txBody>
          <a:bodyPr wrap="square" lIns="0" tIns="0" rIns="0" bIns="0" rtlCol="0" anchor="t"/>
          <a:lstStyle/>
          <a:p>
            <a:pPr indent="0" marL="0">
              <a:buNone/>
            </a:pPr>
            <a:r>
              <a:rPr lang="en-US" sz="1800" dirty="0">
                <a:solidFill>
                  <a:schemeClr val="accent3"/>
                </a:solidFill>
              </a:rPr>
              <a:t>Single example, not a general result. Excerpts translated from Japanese. Presented at the Japan Ergonomics Society Kanto Branch, Dec 2025.</a:t>
            </a:r>
            <a:endParaRPr lang="en-US" sz="18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Master's research · method</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The LLM's explanation is scored against human key points it never sees.</a:t>
            </a:r>
            <a:endParaRPr lang="en-US" sz="2800" dirty="0"/>
          </a:p>
        </p:txBody>
      </p:sp>
      <p:sp>
        <p:nvSpPr>
          <p:cNvPr id="5" name="Input gaze"/>
          <p:cNvSpPr/>
          <p:nvPr/>
        </p:nvSpPr>
        <p:spPr>
          <a:xfrm>
            <a:off x="640080" y="1600200"/>
            <a:ext cx="3291840" cy="1417320"/>
          </a:xfrm>
          <a:prstGeom prst="roundRect">
            <a:avLst>
              <a:gd name="adj" fmla="val 6452"/>
            </a:avLst>
          </a:prstGeom>
          <a:solidFill>
            <a:schemeClr val="bg2"/>
          </a:solidFill>
          <a:ln w="12700">
            <a:solidFill>
              <a:srgbClr val="CCCCCC"/>
            </a:solidFill>
            <a:prstDash val="solid"/>
          </a:ln>
        </p:spPr>
      </p:sp>
      <p:sp>
        <p:nvSpPr>
          <p:cNvPr id="6" name="Input gaze text"/>
          <p:cNvSpPr txBox="1"/>
          <p:nvPr/>
        </p:nvSpPr>
        <p:spPr>
          <a:xfrm>
            <a:off x="731520" y="1600200"/>
            <a:ext cx="3108960" cy="1417320"/>
          </a:xfrm>
          <a:prstGeom prst="rect">
            <a:avLst/>
          </a:prstGeom>
          <a:noFill/>
          <a:ln/>
        </p:spPr>
        <p:txBody>
          <a:bodyPr wrap="square" lIns="1270" tIns="1270" rIns="1270" bIns="1270" rtlCol="0" anchor="ctr"/>
          <a:lstStyle/>
          <a:p>
            <a:pPr indent="0" marL="0">
              <a:buNone/>
            </a:pPr>
            <a:r>
              <a:rPr lang="en-US" sz="2000" b="1" dirty="0">
                <a:solidFill>
                  <a:schemeClr val="tx1"/>
                </a:solidFill>
              </a:rPr>
              <a:t>Gaze metrics</a:t>
            </a:r>
            <a:endParaRPr lang="en-US" sz="2000" dirty="0"/>
          </a:p>
          <a:p>
            <a:pPr indent="0" marL="0">
              <a:buNone/>
            </a:pPr>
            <a:r>
              <a:rPr lang="en-US" sz="2000" dirty="0">
                <a:solidFill>
                  <a:schemeClr val="accent3"/>
                </a:solidFill>
              </a:rPr>
              <a:t>dwell time, visits per technique</a:t>
            </a:r>
            <a:endParaRPr lang="en-US" sz="2000" dirty="0"/>
          </a:p>
        </p:txBody>
      </p:sp>
      <p:sp>
        <p:nvSpPr>
          <p:cNvPr id="7" name="Input UI"/>
          <p:cNvSpPr/>
          <p:nvPr/>
        </p:nvSpPr>
        <p:spPr>
          <a:xfrm>
            <a:off x="640080" y="3200400"/>
            <a:ext cx="3291840" cy="1417320"/>
          </a:xfrm>
          <a:prstGeom prst="roundRect">
            <a:avLst>
              <a:gd name="adj" fmla="val 6452"/>
            </a:avLst>
          </a:prstGeom>
          <a:solidFill>
            <a:schemeClr val="bg2"/>
          </a:solidFill>
          <a:ln w="12700">
            <a:solidFill>
              <a:srgbClr val="CCCCCC"/>
            </a:solidFill>
            <a:prstDash val="solid"/>
          </a:ln>
        </p:spPr>
      </p:sp>
      <p:sp>
        <p:nvSpPr>
          <p:cNvPr id="8" name="Input UI text"/>
          <p:cNvSpPr txBox="1"/>
          <p:nvPr/>
        </p:nvSpPr>
        <p:spPr>
          <a:xfrm>
            <a:off x="731520" y="3200400"/>
            <a:ext cx="3108960" cy="1417320"/>
          </a:xfrm>
          <a:prstGeom prst="rect">
            <a:avLst/>
          </a:prstGeom>
          <a:noFill/>
          <a:ln/>
        </p:spPr>
        <p:txBody>
          <a:bodyPr wrap="square" lIns="1270" tIns="1270" rIns="1270" bIns="1270" rtlCol="0" anchor="ctr"/>
          <a:lstStyle/>
          <a:p>
            <a:pPr indent="0" marL="0">
              <a:buNone/>
            </a:pPr>
            <a:r>
              <a:rPr lang="en-US" sz="2000" b="1" dirty="0">
                <a:solidFill>
                  <a:schemeClr val="tx1"/>
                </a:solidFill>
              </a:rPr>
              <a:t>UI structure</a:t>
            </a:r>
            <a:endParaRPr lang="en-US" sz="2000" dirty="0"/>
          </a:p>
          <a:p>
            <a:pPr indent="0" marL="0">
              <a:buNone/>
            </a:pPr>
            <a:r>
              <a:rPr lang="en-US" sz="2000" dirty="0">
                <a:solidFill>
                  <a:schemeClr val="accent3"/>
                </a:solidFill>
              </a:rPr>
              <a:t>screen, HTML/CSS, task</a:t>
            </a:r>
            <a:endParaRPr lang="en-US" sz="2000" dirty="0"/>
          </a:p>
        </p:txBody>
      </p:sp>
      <p:sp>
        <p:nvSpPr>
          <p:cNvPr id="9" name="Gaze to LLM"/>
          <p:cNvSpPr/>
          <p:nvPr/>
        </p:nvSpPr>
        <p:spPr>
          <a:xfrm>
            <a:off x="3977640" y="2331720"/>
            <a:ext cx="411480" cy="548640"/>
          </a:xfrm>
          <a:prstGeom prst="line">
            <a:avLst/>
          </a:prstGeom>
          <a:noFill/>
          <a:ln w="19050">
            <a:solidFill>
              <a:schemeClr val="tx1"/>
            </a:solidFill>
            <a:prstDash val="solid"/>
            <a:tailEnd type="triangle"/>
          </a:ln>
        </p:spPr>
      </p:sp>
      <p:sp>
        <p:nvSpPr>
          <p:cNvPr id="10" name="UI to LLM"/>
          <p:cNvSpPr/>
          <p:nvPr/>
        </p:nvSpPr>
        <p:spPr>
          <a:xfrm>
            <a:off x="3977640" y="3886200"/>
            <a:ext cx="411480" cy="-548640"/>
          </a:xfrm>
          <a:prstGeom prst="line">
            <a:avLst/>
          </a:prstGeom>
          <a:noFill/>
          <a:ln w="19050">
            <a:solidFill>
              <a:schemeClr val="tx1"/>
            </a:solidFill>
            <a:prstDash val="solid"/>
            <a:tailEnd type="triangle"/>
          </a:ln>
        </p:spPr>
      </p:sp>
      <p:sp>
        <p:nvSpPr>
          <p:cNvPr id="11" name="LLM"/>
          <p:cNvSpPr/>
          <p:nvPr/>
        </p:nvSpPr>
        <p:spPr>
          <a:xfrm>
            <a:off x="4434840" y="2286000"/>
            <a:ext cx="1280160" cy="1554480"/>
          </a:xfrm>
          <a:prstGeom prst="roundRect">
            <a:avLst>
              <a:gd name="adj" fmla="val 7143"/>
            </a:avLst>
          </a:prstGeom>
          <a:solidFill>
            <a:schemeClr val="tx2"/>
          </a:solidFill>
          <a:ln w="12700">
            <a:solidFill>
              <a:schemeClr val="tx2"/>
            </a:solidFill>
            <a:prstDash val="solid"/>
          </a:ln>
        </p:spPr>
      </p:sp>
      <p:sp>
        <p:nvSpPr>
          <p:cNvPr id="12" name="LLM text"/>
          <p:cNvSpPr txBox="1"/>
          <p:nvPr/>
        </p:nvSpPr>
        <p:spPr>
          <a:xfrm>
            <a:off x="4434840" y="2286000"/>
            <a:ext cx="1280160" cy="1554480"/>
          </a:xfrm>
          <a:prstGeom prst="rect">
            <a:avLst/>
          </a:prstGeom>
          <a:noFill/>
          <a:ln/>
        </p:spPr>
        <p:txBody>
          <a:bodyPr wrap="square" lIns="1270" tIns="1270" rIns="1270" bIns="1270" rtlCol="0" anchor="ctr"/>
          <a:lstStyle/>
          <a:p>
            <a:pPr algn="ctr" indent="0" marL="0">
              <a:buNone/>
            </a:pPr>
            <a:r>
              <a:rPr lang="en-US" sz="2800" b="1" dirty="0">
                <a:solidFill>
                  <a:schemeClr val="bg1"/>
                </a:solidFill>
              </a:rPr>
              <a:t>LLM</a:t>
            </a:r>
            <a:endParaRPr lang="en-US" sz="2800" dirty="0"/>
          </a:p>
        </p:txBody>
      </p:sp>
      <p:sp>
        <p:nvSpPr>
          <p:cNvPr id="13" name="LLM to output"/>
          <p:cNvSpPr/>
          <p:nvPr/>
        </p:nvSpPr>
        <p:spPr>
          <a:xfrm>
            <a:off x="5760720" y="3063240"/>
            <a:ext cx="365760" cy="0"/>
          </a:xfrm>
          <a:prstGeom prst="line">
            <a:avLst/>
          </a:prstGeom>
          <a:noFill/>
          <a:ln w="19050">
            <a:solidFill>
              <a:schemeClr val="tx1"/>
            </a:solidFill>
            <a:prstDash val="solid"/>
            <a:tailEnd type="triangle"/>
          </a:ln>
        </p:spPr>
      </p:sp>
      <p:sp>
        <p:nvSpPr>
          <p:cNvPr id="14" name="Output"/>
          <p:cNvSpPr/>
          <p:nvPr/>
        </p:nvSpPr>
        <p:spPr>
          <a:xfrm>
            <a:off x="6172200" y="1600200"/>
            <a:ext cx="2743200" cy="3017520"/>
          </a:xfrm>
          <a:prstGeom prst="roundRect">
            <a:avLst>
              <a:gd name="adj" fmla="val 3333"/>
            </a:avLst>
          </a:prstGeom>
          <a:solidFill>
            <a:schemeClr val="accent6"/>
          </a:solidFill>
          <a:ln w="12700">
            <a:solidFill>
              <a:schemeClr val="accent5"/>
            </a:solidFill>
            <a:prstDash val="solid"/>
          </a:ln>
        </p:spPr>
      </p:sp>
      <p:sp>
        <p:nvSpPr>
          <p:cNvPr id="15" name="Output text"/>
          <p:cNvSpPr txBox="1"/>
          <p:nvPr/>
        </p:nvSpPr>
        <p:spPr>
          <a:xfrm>
            <a:off x="6263640" y="1600200"/>
            <a:ext cx="2560320" cy="3017520"/>
          </a:xfrm>
          <a:prstGeom prst="rect">
            <a:avLst/>
          </a:prstGeom>
          <a:noFill/>
          <a:ln/>
        </p:spPr>
        <p:txBody>
          <a:bodyPr wrap="square" lIns="1270" tIns="1270" rIns="1270" bIns="1270" rtlCol="0" anchor="ctr"/>
          <a:lstStyle/>
          <a:p>
            <a:pPr indent="0" marL="0">
              <a:buNone/>
            </a:pPr>
            <a:r>
              <a:rPr lang="en-US" sz="2000" b="1" dirty="0">
                <a:solidFill>
                  <a:schemeClr val="tx2"/>
                </a:solidFill>
              </a:rPr>
              <a:t>Per technique</a:t>
            </a:r>
            <a:endParaRPr lang="en-US" sz="2000" dirty="0"/>
          </a:p>
          <a:p>
            <a:pPr indent="0" marL="0">
              <a:buNone/>
            </a:pPr>
            <a:r>
              <a:rPr lang="en-US" sz="2000" dirty="0">
                <a:solidFill>
                  <a:schemeClr val="tx1"/>
                </a:solidFill>
              </a:rPr>
              <a:t>element, screen, reason</a:t>
            </a:r>
            <a:endParaRPr lang="en-US" sz="2000" dirty="0"/>
          </a:p>
          <a:p>
            <a:pPr indent="0" marL="0">
              <a:buNone/>
            </a:pPr>
            <a:r>
              <a:rPr lang="en-US" sz="2000" dirty="0">
                <a:solidFill>
                  <a:schemeClr val="tx1"/>
                </a:solidFill>
              </a:rPr>
              <a:t>+ summary, suggestions</a:t>
            </a:r>
            <a:endParaRPr lang="en-US" sz="2000" dirty="0"/>
          </a:p>
        </p:txBody>
      </p:sp>
      <p:sp>
        <p:nvSpPr>
          <p:cNvPr id="16" name="Compare"/>
          <p:cNvSpPr/>
          <p:nvPr/>
        </p:nvSpPr>
        <p:spPr>
          <a:xfrm>
            <a:off x="8961120" y="3108960"/>
            <a:ext cx="365760" cy="0"/>
          </a:xfrm>
          <a:prstGeom prst="line">
            <a:avLst/>
          </a:prstGeom>
          <a:noFill/>
          <a:ln w="19050">
            <a:solidFill>
              <a:schemeClr val="tx1"/>
            </a:solidFill>
            <a:prstDash val="dash"/>
            <a:headEnd type="triangle"/>
            <a:tailEnd type="triangle"/>
          </a:ln>
        </p:spPr>
      </p:sp>
      <p:sp>
        <p:nvSpPr>
          <p:cNvPr id="17" name="Human key points"/>
          <p:cNvSpPr/>
          <p:nvPr/>
        </p:nvSpPr>
        <p:spPr>
          <a:xfrm>
            <a:off x="9372600" y="1600200"/>
            <a:ext cx="2176272" cy="3017520"/>
          </a:xfrm>
          <a:prstGeom prst="roundRect">
            <a:avLst>
              <a:gd name="adj" fmla="val 4202"/>
            </a:avLst>
          </a:prstGeom>
          <a:solidFill>
            <a:schemeClr val="bg1"/>
          </a:solidFill>
          <a:ln w="12700">
            <a:solidFill>
              <a:srgbClr val="CCCCCC"/>
            </a:solidFill>
            <a:prstDash val="solid"/>
          </a:ln>
        </p:spPr>
      </p:sp>
      <p:sp>
        <p:nvSpPr>
          <p:cNvPr id="18" name="Human key points text"/>
          <p:cNvSpPr txBox="1"/>
          <p:nvPr/>
        </p:nvSpPr>
        <p:spPr>
          <a:xfrm>
            <a:off x="9418320" y="1600200"/>
            <a:ext cx="2084832" cy="3017520"/>
          </a:xfrm>
          <a:prstGeom prst="rect">
            <a:avLst/>
          </a:prstGeom>
          <a:noFill/>
          <a:ln/>
        </p:spPr>
        <p:txBody>
          <a:bodyPr wrap="square" lIns="1270" tIns="1270" rIns="1270" bIns="1270" rtlCol="0" anchor="ctr"/>
          <a:lstStyle/>
          <a:p>
            <a:pPr algn="ctr" indent="0" marL="0">
              <a:buNone/>
            </a:pPr>
            <a:r>
              <a:rPr lang="en-US" sz="2000" b="1" dirty="0">
                <a:solidFill>
                  <a:schemeClr val="tx1"/>
                </a:solidFill>
              </a:rPr>
              <a:t>Human key points</a:t>
            </a:r>
            <a:endParaRPr lang="en-US" sz="2000" dirty="0"/>
          </a:p>
          <a:p>
            <a:pPr algn="ctr" indent="0" marL="0">
              <a:buNone/>
            </a:pPr>
            <a:r>
              <a:rPr lang="en-US" sz="2000" dirty="0">
                <a:solidFill>
                  <a:schemeClr val="accent3"/>
                </a:solidFill>
              </a:rPr>
              <a:t>where, when, why</a:t>
            </a:r>
            <a:endParaRPr lang="en-US" sz="2000" dirty="0"/>
          </a:p>
        </p:txBody>
      </p:sp>
      <p:sp>
        <p:nvSpPr>
          <p:cNvPr id="19" name="Metrics strip"/>
          <p:cNvSpPr/>
          <p:nvPr/>
        </p:nvSpPr>
        <p:spPr>
          <a:xfrm>
            <a:off x="640080" y="4892040"/>
            <a:ext cx="10908792" cy="1097280"/>
          </a:xfrm>
          <a:prstGeom prst="roundRect">
            <a:avLst>
              <a:gd name="adj" fmla="val 8333"/>
            </a:avLst>
          </a:prstGeom>
          <a:solidFill>
            <a:schemeClr val="bg2"/>
          </a:solidFill>
          <a:ln w="12700">
            <a:solidFill>
              <a:srgbClr val="CCCCCC"/>
            </a:solidFill>
            <a:prstDash val="solid"/>
          </a:ln>
        </p:spPr>
      </p:sp>
      <p:sp>
        <p:nvSpPr>
          <p:cNvPr id="20" name="Metrics text"/>
          <p:cNvSpPr txBox="1"/>
          <p:nvPr/>
        </p:nvSpPr>
        <p:spPr>
          <a:xfrm>
            <a:off x="777240" y="4892040"/>
            <a:ext cx="10607040" cy="1097280"/>
          </a:xfrm>
          <a:prstGeom prst="rect">
            <a:avLst/>
          </a:prstGeom>
          <a:noFill/>
          <a:ln/>
        </p:spPr>
        <p:txBody>
          <a:bodyPr wrap="square" lIns="1270" tIns="1270" rIns="1270" bIns="1270" rtlCol="0" anchor="ctr"/>
          <a:lstStyle/>
          <a:p>
            <a:pPr indent="0" marL="0">
              <a:buNone/>
            </a:pPr>
            <a:r>
              <a:rPr lang="en-US" sz="2000" b="1" dirty="0">
                <a:solidFill>
                  <a:schemeClr val="tx2"/>
                </a:solidFill>
              </a:rPr>
              <a:t>Scored by recall and over-claim rate. </a:t>
            </a:r>
            <a:pPr indent="0" marL="0">
              <a:buNone/>
            </a:pPr>
            <a:r>
              <a:rPr lang="en-US" sz="2000" b="1" dirty="0">
                <a:solidFill>
                  <a:schemeClr val="accent4"/>
                </a:solidFill>
              </a:rPr>
              <a:t>Key points are never given to the LLM.</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Master's research · experiment design</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Each bad-UI technique is embedded alone and combined on mock sites.</a:t>
            </a:r>
            <a:endParaRPr lang="en-US" sz="2800" dirty="0"/>
          </a:p>
        </p:txBody>
      </p:sp>
      <p:sp>
        <p:nvSpPr>
          <p:cNvPr id="5" name="Technique card T1"/>
          <p:cNvSpPr/>
          <p:nvPr/>
        </p:nvSpPr>
        <p:spPr>
          <a:xfrm>
            <a:off x="640080" y="1554480"/>
            <a:ext cx="2103120" cy="2880360"/>
          </a:xfrm>
          <a:prstGeom prst="roundRect">
            <a:avLst>
              <a:gd name="adj" fmla="val 4348"/>
            </a:avLst>
          </a:prstGeom>
          <a:solidFill>
            <a:schemeClr val="bg2"/>
          </a:solidFill>
          <a:ln w="12700">
            <a:solidFill>
              <a:srgbClr val="CCCCCC"/>
            </a:solidFill>
            <a:prstDash val="solid"/>
          </a:ln>
        </p:spPr>
      </p:sp>
      <p:sp>
        <p:nvSpPr>
          <p:cNvPr id="6" name="Badge T1"/>
          <p:cNvSpPr/>
          <p:nvPr/>
        </p:nvSpPr>
        <p:spPr>
          <a:xfrm>
            <a:off x="777240" y="1691640"/>
            <a:ext cx="548640" cy="548640"/>
          </a:xfrm>
          <a:prstGeom prst="ellipse">
            <a:avLst/>
          </a:prstGeom>
          <a:solidFill>
            <a:schemeClr val="tx2"/>
          </a:solidFill>
          <a:ln w="12700">
            <a:solidFill>
              <a:schemeClr val="tx2"/>
            </a:solidFill>
            <a:prstDash val="solid"/>
          </a:ln>
        </p:spPr>
      </p:sp>
      <p:sp>
        <p:nvSpPr>
          <p:cNvPr id="7" name="Badge text T1"/>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T1</a:t>
            </a:r>
            <a:endParaRPr lang="en-US" sz="2000" dirty="0"/>
          </a:p>
        </p:txBody>
      </p:sp>
      <p:sp>
        <p:nvSpPr>
          <p:cNvPr id="8" name="Technique name T1"/>
          <p:cNvSpPr txBox="1"/>
          <p:nvPr/>
        </p:nvSpPr>
        <p:spPr>
          <a:xfrm>
            <a:off x="685800" y="2331720"/>
            <a:ext cx="2011680" cy="1097280"/>
          </a:xfrm>
          <a:prstGeom prst="rect">
            <a:avLst/>
          </a:prstGeom>
          <a:noFill/>
          <a:ln/>
        </p:spPr>
        <p:txBody>
          <a:bodyPr wrap="square" lIns="1270" tIns="1270" rIns="1270" bIns="1270" rtlCol="0" anchor="t"/>
          <a:lstStyle/>
          <a:p>
            <a:pPr indent="0" marL="0">
              <a:buNone/>
            </a:pPr>
            <a:r>
              <a:rPr lang="en-US" sz="2000" b="1" dirty="0">
                <a:solidFill>
                  <a:schemeClr val="tx1"/>
                </a:solidFill>
              </a:rPr>
              <a:t>Similar-name decoys</a:t>
            </a:r>
            <a:endParaRPr lang="en-US" sz="2000" dirty="0"/>
          </a:p>
        </p:txBody>
      </p:sp>
      <p:sp>
        <p:nvSpPr>
          <p:cNvPr id="9" name="Technique ref T1"/>
          <p:cNvSpPr txBox="1"/>
          <p:nvPr/>
        </p:nvSpPr>
        <p:spPr>
          <a:xfrm>
            <a:off x="685800" y="3429000"/>
            <a:ext cx="2011680" cy="914400"/>
          </a:xfrm>
          <a:prstGeom prst="rect">
            <a:avLst/>
          </a:prstGeom>
          <a:noFill/>
          <a:ln/>
        </p:spPr>
        <p:txBody>
          <a:bodyPr wrap="square" lIns="1270" tIns="1270" rIns="1270" bIns="1270" rtlCol="0" anchor="t"/>
          <a:lstStyle/>
          <a:p>
            <a:pPr indent="0" marL="0">
              <a:buNone/>
            </a:pPr>
            <a:r>
              <a:rPr lang="en-US" sz="1800" dirty="0">
                <a:solidFill>
                  <a:schemeClr val="accent3"/>
                </a:solidFill>
              </a:rPr>
              <a:t>Duncan &amp; Humphreys 1989</a:t>
            </a:r>
            <a:endParaRPr lang="en-US" sz="1800" dirty="0"/>
          </a:p>
        </p:txBody>
      </p:sp>
      <p:sp>
        <p:nvSpPr>
          <p:cNvPr id="10" name="Technique card T2"/>
          <p:cNvSpPr/>
          <p:nvPr/>
        </p:nvSpPr>
        <p:spPr>
          <a:xfrm>
            <a:off x="2841498" y="1554480"/>
            <a:ext cx="2103120" cy="2880360"/>
          </a:xfrm>
          <a:prstGeom prst="roundRect">
            <a:avLst>
              <a:gd name="adj" fmla="val 4348"/>
            </a:avLst>
          </a:prstGeom>
          <a:solidFill>
            <a:schemeClr val="bg2"/>
          </a:solidFill>
          <a:ln w="12700">
            <a:solidFill>
              <a:srgbClr val="CCCCCC"/>
            </a:solidFill>
            <a:prstDash val="solid"/>
          </a:ln>
        </p:spPr>
      </p:sp>
      <p:sp>
        <p:nvSpPr>
          <p:cNvPr id="11" name="Badge T2"/>
          <p:cNvSpPr/>
          <p:nvPr/>
        </p:nvSpPr>
        <p:spPr>
          <a:xfrm>
            <a:off x="2978658" y="1691640"/>
            <a:ext cx="548640" cy="548640"/>
          </a:xfrm>
          <a:prstGeom prst="ellipse">
            <a:avLst/>
          </a:prstGeom>
          <a:solidFill>
            <a:schemeClr val="tx2"/>
          </a:solidFill>
          <a:ln w="12700">
            <a:solidFill>
              <a:schemeClr val="tx2"/>
            </a:solidFill>
            <a:prstDash val="solid"/>
          </a:ln>
        </p:spPr>
      </p:sp>
      <p:sp>
        <p:nvSpPr>
          <p:cNvPr id="12" name="Badge text T2"/>
          <p:cNvSpPr txBox="1"/>
          <p:nvPr/>
        </p:nvSpPr>
        <p:spPr>
          <a:xfrm>
            <a:off x="2978658"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T2</a:t>
            </a:r>
            <a:endParaRPr lang="en-US" sz="2000" dirty="0"/>
          </a:p>
        </p:txBody>
      </p:sp>
      <p:sp>
        <p:nvSpPr>
          <p:cNvPr id="13" name="Technique name T2"/>
          <p:cNvSpPr txBox="1"/>
          <p:nvPr/>
        </p:nvSpPr>
        <p:spPr>
          <a:xfrm>
            <a:off x="2887218" y="2331720"/>
            <a:ext cx="2011680" cy="1097280"/>
          </a:xfrm>
          <a:prstGeom prst="rect">
            <a:avLst/>
          </a:prstGeom>
          <a:noFill/>
          <a:ln/>
        </p:spPr>
        <p:txBody>
          <a:bodyPr wrap="square" lIns="1270" tIns="1270" rIns="1270" bIns="1270" rtlCol="0" anchor="t"/>
          <a:lstStyle/>
          <a:p>
            <a:pPr indent="0" marL="0">
              <a:buNone/>
            </a:pPr>
            <a:r>
              <a:rPr lang="en-US" sz="2000" b="1" dirty="0">
                <a:solidFill>
                  <a:schemeClr val="tx1"/>
                </a:solidFill>
              </a:rPr>
              <a:t>Decorative noise</a:t>
            </a:r>
            <a:endParaRPr lang="en-US" sz="2000" dirty="0"/>
          </a:p>
        </p:txBody>
      </p:sp>
      <p:sp>
        <p:nvSpPr>
          <p:cNvPr id="14" name="Technique ref T2"/>
          <p:cNvSpPr txBox="1"/>
          <p:nvPr/>
        </p:nvSpPr>
        <p:spPr>
          <a:xfrm>
            <a:off x="2887218" y="3429000"/>
            <a:ext cx="2011680" cy="914400"/>
          </a:xfrm>
          <a:prstGeom prst="rect">
            <a:avLst/>
          </a:prstGeom>
          <a:noFill/>
          <a:ln/>
        </p:spPr>
        <p:txBody>
          <a:bodyPr wrap="square" lIns="1270" tIns="1270" rIns="1270" bIns="1270" rtlCol="0" anchor="t"/>
          <a:lstStyle/>
          <a:p>
            <a:pPr indent="0" marL="0">
              <a:buNone/>
            </a:pPr>
            <a:r>
              <a:rPr lang="en-US" sz="1800" dirty="0">
                <a:solidFill>
                  <a:schemeClr val="accent3"/>
                </a:solidFill>
              </a:rPr>
              <a:t>Burke et al. 2005</a:t>
            </a:r>
            <a:endParaRPr lang="en-US" sz="1800" dirty="0"/>
          </a:p>
        </p:txBody>
      </p:sp>
      <p:sp>
        <p:nvSpPr>
          <p:cNvPr id="15" name="Technique card T3"/>
          <p:cNvSpPr/>
          <p:nvPr/>
        </p:nvSpPr>
        <p:spPr>
          <a:xfrm>
            <a:off x="5042916" y="1554480"/>
            <a:ext cx="2103120" cy="2880360"/>
          </a:xfrm>
          <a:prstGeom prst="roundRect">
            <a:avLst>
              <a:gd name="adj" fmla="val 4348"/>
            </a:avLst>
          </a:prstGeom>
          <a:solidFill>
            <a:schemeClr val="bg2"/>
          </a:solidFill>
          <a:ln w="12700">
            <a:solidFill>
              <a:srgbClr val="CCCCCC"/>
            </a:solidFill>
            <a:prstDash val="solid"/>
          </a:ln>
        </p:spPr>
      </p:sp>
      <p:sp>
        <p:nvSpPr>
          <p:cNvPr id="16" name="Badge T3"/>
          <p:cNvSpPr/>
          <p:nvPr/>
        </p:nvSpPr>
        <p:spPr>
          <a:xfrm>
            <a:off x="5180076" y="1691640"/>
            <a:ext cx="548640" cy="548640"/>
          </a:xfrm>
          <a:prstGeom prst="ellipse">
            <a:avLst/>
          </a:prstGeom>
          <a:solidFill>
            <a:schemeClr val="tx2"/>
          </a:solidFill>
          <a:ln w="12700">
            <a:solidFill>
              <a:schemeClr val="tx2"/>
            </a:solidFill>
            <a:prstDash val="solid"/>
          </a:ln>
        </p:spPr>
      </p:sp>
      <p:sp>
        <p:nvSpPr>
          <p:cNvPr id="17" name="Badge text T3"/>
          <p:cNvSpPr txBox="1"/>
          <p:nvPr/>
        </p:nvSpPr>
        <p:spPr>
          <a:xfrm>
            <a:off x="5180076"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T3</a:t>
            </a:r>
            <a:endParaRPr lang="en-US" sz="2000" dirty="0"/>
          </a:p>
        </p:txBody>
      </p:sp>
      <p:sp>
        <p:nvSpPr>
          <p:cNvPr id="18" name="Technique name T3"/>
          <p:cNvSpPr txBox="1"/>
          <p:nvPr/>
        </p:nvSpPr>
        <p:spPr>
          <a:xfrm>
            <a:off x="5088636" y="2331720"/>
            <a:ext cx="2011680" cy="1097280"/>
          </a:xfrm>
          <a:prstGeom prst="rect">
            <a:avLst/>
          </a:prstGeom>
          <a:noFill/>
          <a:ln/>
        </p:spPr>
        <p:txBody>
          <a:bodyPr wrap="square" lIns="1270" tIns="1270" rIns="1270" bIns="1270" rtlCol="0" anchor="t"/>
          <a:lstStyle/>
          <a:p>
            <a:pPr indent="0" marL="0">
              <a:buNone/>
            </a:pPr>
            <a:r>
              <a:rPr lang="en-US" sz="2000" b="1" dirty="0">
                <a:solidFill>
                  <a:schemeClr val="tx1"/>
                </a:solidFill>
              </a:rPr>
              <a:t>Shifting button positions</a:t>
            </a:r>
            <a:endParaRPr lang="en-US" sz="2000" dirty="0"/>
          </a:p>
        </p:txBody>
      </p:sp>
      <p:sp>
        <p:nvSpPr>
          <p:cNvPr id="19" name="Technique ref T3"/>
          <p:cNvSpPr txBox="1"/>
          <p:nvPr/>
        </p:nvSpPr>
        <p:spPr>
          <a:xfrm>
            <a:off x="5088636" y="3429000"/>
            <a:ext cx="2011680" cy="914400"/>
          </a:xfrm>
          <a:prstGeom prst="rect">
            <a:avLst/>
          </a:prstGeom>
          <a:noFill/>
          <a:ln/>
        </p:spPr>
        <p:txBody>
          <a:bodyPr wrap="square" lIns="1270" tIns="1270" rIns="1270" bIns="1270" rtlCol="0" anchor="t"/>
          <a:lstStyle/>
          <a:p>
            <a:pPr indent="0" marL="0">
              <a:buNone/>
            </a:pPr>
            <a:r>
              <a:rPr lang="en-US" sz="1800" dirty="0">
                <a:solidFill>
                  <a:schemeClr val="accent3"/>
                </a:solidFill>
              </a:rPr>
              <a:t>McCarthy et al. 2003</a:t>
            </a:r>
            <a:endParaRPr lang="en-US" sz="1800" dirty="0"/>
          </a:p>
        </p:txBody>
      </p:sp>
      <p:sp>
        <p:nvSpPr>
          <p:cNvPr id="20" name="Technique card T4"/>
          <p:cNvSpPr/>
          <p:nvPr/>
        </p:nvSpPr>
        <p:spPr>
          <a:xfrm>
            <a:off x="7244334" y="1554480"/>
            <a:ext cx="2103120" cy="2880360"/>
          </a:xfrm>
          <a:prstGeom prst="roundRect">
            <a:avLst>
              <a:gd name="adj" fmla="val 4348"/>
            </a:avLst>
          </a:prstGeom>
          <a:solidFill>
            <a:schemeClr val="bg2"/>
          </a:solidFill>
          <a:ln w="12700">
            <a:solidFill>
              <a:srgbClr val="CCCCCC"/>
            </a:solidFill>
            <a:prstDash val="solid"/>
          </a:ln>
        </p:spPr>
      </p:sp>
      <p:sp>
        <p:nvSpPr>
          <p:cNvPr id="21" name="Badge T4"/>
          <p:cNvSpPr/>
          <p:nvPr/>
        </p:nvSpPr>
        <p:spPr>
          <a:xfrm>
            <a:off x="7381494" y="1691640"/>
            <a:ext cx="548640" cy="548640"/>
          </a:xfrm>
          <a:prstGeom prst="ellipse">
            <a:avLst/>
          </a:prstGeom>
          <a:solidFill>
            <a:schemeClr val="tx2"/>
          </a:solidFill>
          <a:ln w="12700">
            <a:solidFill>
              <a:schemeClr val="tx2"/>
            </a:solidFill>
            <a:prstDash val="solid"/>
          </a:ln>
        </p:spPr>
      </p:sp>
      <p:sp>
        <p:nvSpPr>
          <p:cNvPr id="22" name="Badge text T4"/>
          <p:cNvSpPr txBox="1"/>
          <p:nvPr/>
        </p:nvSpPr>
        <p:spPr>
          <a:xfrm>
            <a:off x="7381494"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T4</a:t>
            </a:r>
            <a:endParaRPr lang="en-US" sz="2000" dirty="0"/>
          </a:p>
        </p:txBody>
      </p:sp>
      <p:sp>
        <p:nvSpPr>
          <p:cNvPr id="23" name="Technique name T4"/>
          <p:cNvSpPr txBox="1"/>
          <p:nvPr/>
        </p:nvSpPr>
        <p:spPr>
          <a:xfrm>
            <a:off x="7290054" y="2331720"/>
            <a:ext cx="2011680" cy="1097280"/>
          </a:xfrm>
          <a:prstGeom prst="rect">
            <a:avLst/>
          </a:prstGeom>
          <a:noFill/>
          <a:ln/>
        </p:spPr>
        <p:txBody>
          <a:bodyPr wrap="square" lIns="1270" tIns="1270" rIns="1270" bIns="1270" rtlCol="0" anchor="t"/>
          <a:lstStyle/>
          <a:p>
            <a:pPr indent="0" marL="0">
              <a:buNone/>
            </a:pPr>
            <a:r>
              <a:rPr lang="en-US" sz="2000" b="1" dirty="0">
                <a:solidFill>
                  <a:schemeClr val="tx1"/>
                </a:solidFill>
              </a:rPr>
              <a:t>Inconsistent design</a:t>
            </a:r>
            <a:endParaRPr lang="en-US" sz="2000" dirty="0"/>
          </a:p>
        </p:txBody>
      </p:sp>
      <p:sp>
        <p:nvSpPr>
          <p:cNvPr id="24" name="Technique ref T4"/>
          <p:cNvSpPr txBox="1"/>
          <p:nvPr/>
        </p:nvSpPr>
        <p:spPr>
          <a:xfrm>
            <a:off x="7290054" y="3429000"/>
            <a:ext cx="2011680" cy="914400"/>
          </a:xfrm>
          <a:prstGeom prst="rect">
            <a:avLst/>
          </a:prstGeom>
          <a:noFill/>
          <a:ln/>
        </p:spPr>
        <p:txBody>
          <a:bodyPr wrap="square" lIns="1270" tIns="1270" rIns="1270" bIns="1270" rtlCol="0" anchor="t"/>
          <a:lstStyle/>
          <a:p>
            <a:pPr indent="0" marL="0">
              <a:buNone/>
            </a:pPr>
            <a:r>
              <a:rPr lang="en-US" sz="1800" dirty="0">
                <a:solidFill>
                  <a:schemeClr val="accent3"/>
                </a:solidFill>
              </a:rPr>
              <a:t>Mendel 2010/2012 etc.</a:t>
            </a:r>
            <a:endParaRPr lang="en-US" sz="1800" dirty="0"/>
          </a:p>
        </p:txBody>
      </p:sp>
      <p:sp>
        <p:nvSpPr>
          <p:cNvPr id="25" name="Technique card T5"/>
          <p:cNvSpPr/>
          <p:nvPr/>
        </p:nvSpPr>
        <p:spPr>
          <a:xfrm>
            <a:off x="9445752" y="1554480"/>
            <a:ext cx="2103120" cy="2880360"/>
          </a:xfrm>
          <a:prstGeom prst="roundRect">
            <a:avLst>
              <a:gd name="adj" fmla="val 4348"/>
            </a:avLst>
          </a:prstGeom>
          <a:solidFill>
            <a:schemeClr val="bg2"/>
          </a:solidFill>
          <a:ln w="12700">
            <a:solidFill>
              <a:srgbClr val="CCCCCC"/>
            </a:solidFill>
            <a:prstDash val="solid"/>
          </a:ln>
        </p:spPr>
      </p:sp>
      <p:sp>
        <p:nvSpPr>
          <p:cNvPr id="26" name="Badge T5"/>
          <p:cNvSpPr/>
          <p:nvPr/>
        </p:nvSpPr>
        <p:spPr>
          <a:xfrm>
            <a:off x="9582912" y="1691640"/>
            <a:ext cx="548640" cy="548640"/>
          </a:xfrm>
          <a:prstGeom prst="ellipse">
            <a:avLst/>
          </a:prstGeom>
          <a:solidFill>
            <a:schemeClr val="tx2"/>
          </a:solidFill>
          <a:ln w="12700">
            <a:solidFill>
              <a:schemeClr val="tx2"/>
            </a:solidFill>
            <a:prstDash val="solid"/>
          </a:ln>
        </p:spPr>
      </p:sp>
      <p:sp>
        <p:nvSpPr>
          <p:cNvPr id="27" name="Badge text T5"/>
          <p:cNvSpPr txBox="1"/>
          <p:nvPr/>
        </p:nvSpPr>
        <p:spPr>
          <a:xfrm>
            <a:off x="958291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T5</a:t>
            </a:r>
            <a:endParaRPr lang="en-US" sz="2000" dirty="0"/>
          </a:p>
        </p:txBody>
      </p:sp>
      <p:sp>
        <p:nvSpPr>
          <p:cNvPr id="28" name="Technique name T5"/>
          <p:cNvSpPr txBox="1"/>
          <p:nvPr/>
        </p:nvSpPr>
        <p:spPr>
          <a:xfrm>
            <a:off x="9491472" y="2331720"/>
            <a:ext cx="2011680" cy="1097280"/>
          </a:xfrm>
          <a:prstGeom prst="rect">
            <a:avLst/>
          </a:prstGeom>
          <a:noFill/>
          <a:ln/>
        </p:spPr>
        <p:txBody>
          <a:bodyPr wrap="square" lIns="1270" tIns="1270" rIns="1270" bIns="1270" rtlCol="0" anchor="t"/>
          <a:lstStyle/>
          <a:p>
            <a:pPr indent="0" marL="0">
              <a:buNone/>
            </a:pPr>
            <a:r>
              <a:rPr lang="en-US" sz="2000" b="1" dirty="0">
                <a:solidFill>
                  <a:schemeClr val="tx1"/>
                </a:solidFill>
              </a:rPr>
              <a:t>Low-contrast progress indicator</a:t>
            </a:r>
            <a:endParaRPr lang="en-US" sz="2000" dirty="0"/>
          </a:p>
        </p:txBody>
      </p:sp>
      <p:sp>
        <p:nvSpPr>
          <p:cNvPr id="29" name="Technique ref T5"/>
          <p:cNvSpPr txBox="1"/>
          <p:nvPr/>
        </p:nvSpPr>
        <p:spPr>
          <a:xfrm>
            <a:off x="9491472" y="3429000"/>
            <a:ext cx="2011680" cy="914400"/>
          </a:xfrm>
          <a:prstGeom prst="rect">
            <a:avLst/>
          </a:prstGeom>
          <a:noFill/>
          <a:ln/>
        </p:spPr>
        <p:txBody>
          <a:bodyPr wrap="square" lIns="1270" tIns="1270" rIns="1270" bIns="1270" rtlCol="0" anchor="t"/>
          <a:lstStyle/>
          <a:p>
            <a:pPr indent="0" marL="0">
              <a:buNone/>
            </a:pPr>
            <a:r>
              <a:rPr lang="en-US" sz="1800" dirty="0">
                <a:solidFill>
                  <a:schemeClr val="accent3"/>
                </a:solidFill>
              </a:rPr>
              <a:t>Yu et al. 2022; Legge et al. 1997</a:t>
            </a:r>
            <a:endParaRPr lang="en-US" sz="1800" dirty="0"/>
          </a:p>
        </p:txBody>
      </p:sp>
      <p:sp>
        <p:nvSpPr>
          <p:cNvPr id="30" name="Fact 1"/>
          <p:cNvSpPr/>
          <p:nvPr/>
        </p:nvSpPr>
        <p:spPr>
          <a:xfrm>
            <a:off x="640080" y="4617720"/>
            <a:ext cx="2651760" cy="1508760"/>
          </a:xfrm>
          <a:prstGeom prst="roundRect">
            <a:avLst>
              <a:gd name="adj" fmla="val 6061"/>
            </a:avLst>
          </a:prstGeom>
          <a:solidFill>
            <a:schemeClr val="accent6"/>
          </a:solidFill>
          <a:ln w="12700">
            <a:solidFill>
              <a:schemeClr val="accent5"/>
            </a:solidFill>
            <a:prstDash val="solid"/>
          </a:ln>
        </p:spPr>
      </p:sp>
      <p:sp>
        <p:nvSpPr>
          <p:cNvPr id="31" name="Fact num 1"/>
          <p:cNvSpPr txBox="1"/>
          <p:nvPr/>
        </p:nvSpPr>
        <p:spPr>
          <a:xfrm>
            <a:off x="685800" y="4617720"/>
            <a:ext cx="777240" cy="1508760"/>
          </a:xfrm>
          <a:prstGeom prst="rect">
            <a:avLst/>
          </a:prstGeom>
          <a:noFill/>
          <a:ln/>
        </p:spPr>
        <p:txBody>
          <a:bodyPr wrap="square" lIns="1270" tIns="1270" rIns="1270" bIns="1270" rtlCol="0" anchor="ctr"/>
          <a:lstStyle/>
          <a:p>
            <a:pPr indent="0" marL="0">
              <a:buNone/>
            </a:pPr>
            <a:r>
              <a:rPr lang="en-US" sz="3600" b="1" dirty="0">
                <a:solidFill>
                  <a:schemeClr val="tx2"/>
                </a:solidFill>
              </a:rPr>
              <a:t>7</a:t>
            </a:r>
            <a:endParaRPr lang="en-US" sz="3600" dirty="0"/>
          </a:p>
        </p:txBody>
      </p:sp>
      <p:sp>
        <p:nvSpPr>
          <p:cNvPr id="32" name="Fact label 1"/>
          <p:cNvSpPr txBox="1"/>
          <p:nvPr/>
        </p:nvSpPr>
        <p:spPr>
          <a:xfrm>
            <a:off x="1463040" y="4617720"/>
            <a:ext cx="1783080" cy="1508760"/>
          </a:xfrm>
          <a:prstGeom prst="rect">
            <a:avLst/>
          </a:prstGeom>
          <a:noFill/>
          <a:ln/>
        </p:spPr>
        <p:txBody>
          <a:bodyPr wrap="square" lIns="1270" tIns="1270" rIns="1270" bIns="1270" rtlCol="0" anchor="ctr"/>
          <a:lstStyle/>
          <a:p>
            <a:pPr indent="0" marL="0">
              <a:buNone/>
            </a:pPr>
            <a:r>
              <a:rPr lang="en-US" sz="2000" dirty="0">
                <a:solidFill>
                  <a:schemeClr val="tx1"/>
                </a:solidFill>
              </a:rPr>
              <a:t>versions per site: G, B-T1–T5, B-all</a:t>
            </a:r>
            <a:endParaRPr lang="en-US" sz="2000" dirty="0"/>
          </a:p>
        </p:txBody>
      </p:sp>
      <p:sp>
        <p:nvSpPr>
          <p:cNvPr id="33" name="Fact 2"/>
          <p:cNvSpPr/>
          <p:nvPr/>
        </p:nvSpPr>
        <p:spPr>
          <a:xfrm>
            <a:off x="3383280" y="4617720"/>
            <a:ext cx="2651760" cy="1508760"/>
          </a:xfrm>
          <a:prstGeom prst="roundRect">
            <a:avLst>
              <a:gd name="adj" fmla="val 6061"/>
            </a:avLst>
          </a:prstGeom>
          <a:solidFill>
            <a:schemeClr val="accent6"/>
          </a:solidFill>
          <a:ln w="12700">
            <a:solidFill>
              <a:schemeClr val="accent5"/>
            </a:solidFill>
            <a:prstDash val="solid"/>
          </a:ln>
        </p:spPr>
      </p:sp>
      <p:sp>
        <p:nvSpPr>
          <p:cNvPr id="34" name="Fact num 2"/>
          <p:cNvSpPr txBox="1"/>
          <p:nvPr/>
        </p:nvSpPr>
        <p:spPr>
          <a:xfrm>
            <a:off x="3429000" y="4617720"/>
            <a:ext cx="777240" cy="1508760"/>
          </a:xfrm>
          <a:prstGeom prst="rect">
            <a:avLst/>
          </a:prstGeom>
          <a:noFill/>
          <a:ln/>
        </p:spPr>
        <p:txBody>
          <a:bodyPr wrap="square" lIns="1270" tIns="1270" rIns="1270" bIns="1270" rtlCol="0" anchor="ctr"/>
          <a:lstStyle/>
          <a:p>
            <a:pPr indent="0" marL="0">
              <a:buNone/>
            </a:pPr>
            <a:r>
              <a:rPr lang="en-US" sz="3600" b="1" dirty="0">
                <a:solidFill>
                  <a:schemeClr val="tx2"/>
                </a:solidFill>
              </a:rPr>
              <a:t>2</a:t>
            </a:r>
            <a:endParaRPr lang="en-US" sz="3600" dirty="0"/>
          </a:p>
        </p:txBody>
      </p:sp>
      <p:sp>
        <p:nvSpPr>
          <p:cNvPr id="35" name="Fact label 2"/>
          <p:cNvSpPr txBox="1"/>
          <p:nvPr/>
        </p:nvSpPr>
        <p:spPr>
          <a:xfrm>
            <a:off x="4206240" y="4617720"/>
            <a:ext cx="1783080" cy="1508760"/>
          </a:xfrm>
          <a:prstGeom prst="rect">
            <a:avLst/>
          </a:prstGeom>
          <a:noFill/>
          <a:ln/>
        </p:spPr>
        <p:txBody>
          <a:bodyPr wrap="square" lIns="1270" tIns="1270" rIns="1270" bIns="1270" rtlCol="0" anchor="ctr"/>
          <a:lstStyle/>
          <a:p>
            <a:pPr indent="0" marL="0">
              <a:buNone/>
            </a:pPr>
            <a:r>
              <a:rPr lang="en-US" sz="2000" dirty="0">
                <a:solidFill>
                  <a:schemeClr val="tx1"/>
                </a:solidFill>
              </a:rPr>
              <a:t>genres: shopping, job search</a:t>
            </a:r>
            <a:endParaRPr lang="en-US" sz="2000" dirty="0"/>
          </a:p>
        </p:txBody>
      </p:sp>
      <p:sp>
        <p:nvSpPr>
          <p:cNvPr id="36" name="Fact 3"/>
          <p:cNvSpPr/>
          <p:nvPr/>
        </p:nvSpPr>
        <p:spPr>
          <a:xfrm>
            <a:off x="6126480" y="4617720"/>
            <a:ext cx="2651760" cy="1508760"/>
          </a:xfrm>
          <a:prstGeom prst="roundRect">
            <a:avLst>
              <a:gd name="adj" fmla="val 6061"/>
            </a:avLst>
          </a:prstGeom>
          <a:solidFill>
            <a:schemeClr val="accent6"/>
          </a:solidFill>
          <a:ln w="12700">
            <a:solidFill>
              <a:schemeClr val="accent5"/>
            </a:solidFill>
            <a:prstDash val="solid"/>
          </a:ln>
        </p:spPr>
      </p:sp>
      <p:sp>
        <p:nvSpPr>
          <p:cNvPr id="37" name="Fact num 3"/>
          <p:cNvSpPr txBox="1"/>
          <p:nvPr/>
        </p:nvSpPr>
        <p:spPr>
          <a:xfrm>
            <a:off x="6172200" y="4617720"/>
            <a:ext cx="777240" cy="1508760"/>
          </a:xfrm>
          <a:prstGeom prst="rect">
            <a:avLst/>
          </a:prstGeom>
          <a:noFill/>
          <a:ln/>
        </p:spPr>
        <p:txBody>
          <a:bodyPr wrap="square" lIns="1270" tIns="1270" rIns="1270" bIns="1270" rtlCol="0" anchor="ctr"/>
          <a:lstStyle/>
          <a:p>
            <a:pPr indent="0" marL="0">
              <a:buNone/>
            </a:pPr>
            <a:r>
              <a:rPr lang="en-US" sz="3600" b="1" dirty="0">
                <a:solidFill>
                  <a:schemeClr val="tx2"/>
                </a:solidFill>
              </a:rPr>
              <a:t>0</a:t>
            </a:r>
            <a:endParaRPr lang="en-US" sz="3600" dirty="0"/>
          </a:p>
        </p:txBody>
      </p:sp>
      <p:sp>
        <p:nvSpPr>
          <p:cNvPr id="38" name="Fact label 3"/>
          <p:cNvSpPr txBox="1"/>
          <p:nvPr/>
        </p:nvSpPr>
        <p:spPr>
          <a:xfrm>
            <a:off x="6949440" y="4617720"/>
            <a:ext cx="1783080" cy="1508760"/>
          </a:xfrm>
          <a:prstGeom prst="rect">
            <a:avLst/>
          </a:prstGeom>
          <a:noFill/>
          <a:ln/>
        </p:spPr>
        <p:txBody>
          <a:bodyPr wrap="square" lIns="1270" tIns="1270" rIns="1270" bIns="1270" rtlCol="0" anchor="ctr"/>
          <a:lstStyle/>
          <a:p>
            <a:pPr indent="0" marL="0">
              <a:buNone/>
            </a:pPr>
            <a:r>
              <a:rPr lang="en-US" sz="2000" dirty="0">
                <a:solidFill>
                  <a:schemeClr val="tx1"/>
                </a:solidFill>
              </a:rPr>
              <a:t>scrolling, so gaze stays reliable</a:t>
            </a:r>
            <a:endParaRPr lang="en-US" sz="2000" dirty="0"/>
          </a:p>
        </p:txBody>
      </p:sp>
      <p:sp>
        <p:nvSpPr>
          <p:cNvPr id="39" name="Fact 4"/>
          <p:cNvSpPr/>
          <p:nvPr/>
        </p:nvSpPr>
        <p:spPr>
          <a:xfrm>
            <a:off x="8869680" y="4617720"/>
            <a:ext cx="2651760" cy="1508760"/>
          </a:xfrm>
          <a:prstGeom prst="roundRect">
            <a:avLst>
              <a:gd name="adj" fmla="val 6061"/>
            </a:avLst>
          </a:prstGeom>
          <a:solidFill>
            <a:schemeClr val="accent6"/>
          </a:solidFill>
          <a:ln w="12700">
            <a:solidFill>
              <a:schemeClr val="accent5"/>
            </a:solidFill>
            <a:prstDash val="solid"/>
          </a:ln>
        </p:spPr>
      </p:sp>
      <p:sp>
        <p:nvSpPr>
          <p:cNvPr id="40" name="Fact num 4"/>
          <p:cNvSpPr txBox="1"/>
          <p:nvPr/>
        </p:nvSpPr>
        <p:spPr>
          <a:xfrm>
            <a:off x="8915400" y="4617720"/>
            <a:ext cx="777240" cy="1508760"/>
          </a:xfrm>
          <a:prstGeom prst="rect">
            <a:avLst/>
          </a:prstGeom>
          <a:noFill/>
          <a:ln/>
        </p:spPr>
        <p:txBody>
          <a:bodyPr wrap="square" lIns="1270" tIns="1270" rIns="1270" bIns="1270" rtlCol="0" anchor="ctr"/>
          <a:lstStyle/>
          <a:p>
            <a:pPr indent="0" marL="0">
              <a:buNone/>
            </a:pPr>
            <a:r>
              <a:rPr lang="en-US" sz="3600" b="1" dirty="0">
                <a:solidFill>
                  <a:schemeClr val="tx2"/>
                </a:solidFill>
              </a:rPr>
              <a:t>20</a:t>
            </a:r>
            <a:endParaRPr lang="en-US" sz="3600" dirty="0"/>
          </a:p>
        </p:txBody>
      </p:sp>
      <p:sp>
        <p:nvSpPr>
          <p:cNvPr id="41" name="Fact label 4"/>
          <p:cNvSpPr txBox="1"/>
          <p:nvPr/>
        </p:nvSpPr>
        <p:spPr>
          <a:xfrm>
            <a:off x="9692640" y="4617720"/>
            <a:ext cx="1783080" cy="1508760"/>
          </a:xfrm>
          <a:prstGeom prst="rect">
            <a:avLst/>
          </a:prstGeom>
          <a:noFill/>
          <a:ln/>
        </p:spPr>
        <p:txBody>
          <a:bodyPr wrap="square" lIns="1270" tIns="1270" rIns="1270" bIns="1270" rtlCol="0" anchor="ctr"/>
          <a:lstStyle/>
          <a:p>
            <a:pPr indent="0" marL="0">
              <a:buNone/>
            </a:pPr>
            <a:r>
              <a:rPr lang="en-US" sz="2000" dirty="0">
                <a:solidFill>
                  <a:schemeClr val="tx1"/>
                </a:solidFill>
              </a:rPr>
              <a:t>areas of interest per site</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640080" y="256032"/>
            <a:ext cx="7315200" cy="329184"/>
          </a:xfrm>
          <a:prstGeom prst="rect">
            <a:avLst/>
          </a:prstGeom>
          <a:noFill/>
          <a:ln/>
        </p:spPr>
        <p:txBody>
          <a:bodyPr wrap="square" lIns="0" tIns="0" rIns="0" bIns="0" rtlCol="0" anchor="ctr"/>
          <a:lstStyle/>
          <a:p>
            <a:pPr indent="0" marL="0">
              <a:buNone/>
            </a:pPr>
            <a:r>
              <a:rPr lang="en-US" sz="2000" b="1" dirty="0">
                <a:solidFill>
                  <a:schemeClr val="tx2"/>
                </a:solidFill>
              </a:rPr>
              <a:t>Master's research · status, limits, advice</a:t>
            </a:r>
            <a:endParaRPr lang="en-US" sz="2000" dirty="0"/>
          </a:p>
        </p:txBody>
      </p:sp>
      <p:sp>
        <p:nvSpPr>
          <p:cNvPr id="3" name="Text 1"/>
          <p:cNvSpPr/>
          <p:nvPr/>
        </p:nvSpPr>
        <p:spPr>
          <a:xfrm>
            <a:off x="640080" y="594360"/>
            <a:ext cx="10881360" cy="731520"/>
          </a:xfrm>
          <a:prstGeom prst="rect">
            <a:avLst/>
          </a:prstGeom>
          <a:noFill/>
          <a:ln/>
        </p:spPr>
        <p:txBody>
          <a:bodyPr wrap="square" lIns="0" tIns="0" rIns="0" bIns="0" rtlCol="0" anchor="ctr"/>
          <a:lstStyle/>
          <a:p>
            <a:pPr indent="0" marL="0">
              <a:buNone/>
            </a:pPr>
            <a:r>
              <a:rPr lang="en-US" sz="2800" b="1" dirty="0">
                <a:solidFill>
                  <a:schemeClr val="tx2"/>
                </a:solidFill>
              </a:rPr>
              <a:t>No results exist yet, so the evaluation design remains untested.</a:t>
            </a:r>
            <a:endParaRPr lang="en-US" sz="2800" dirty="0"/>
          </a:p>
        </p:txBody>
      </p:sp>
      <p:sp>
        <p:nvSpPr>
          <p:cNvPr id="5" name="Step 1"/>
          <p:cNvSpPr/>
          <p:nvPr/>
        </p:nvSpPr>
        <p:spPr>
          <a:xfrm>
            <a:off x="640080" y="1554480"/>
            <a:ext cx="3319272" cy="1234440"/>
          </a:xfrm>
          <a:prstGeom prst="roundRect">
            <a:avLst>
              <a:gd name="adj" fmla="val 7407"/>
            </a:avLst>
          </a:prstGeom>
          <a:solidFill>
            <a:schemeClr val="tx2"/>
          </a:solidFill>
          <a:ln w="12700">
            <a:solidFill>
              <a:schemeClr val="tx2"/>
            </a:solidFill>
            <a:prstDash val="solid"/>
          </a:ln>
        </p:spPr>
      </p:sp>
      <p:sp>
        <p:nvSpPr>
          <p:cNvPr id="6" name="Step text 1"/>
          <p:cNvSpPr txBox="1"/>
          <p:nvPr/>
        </p:nvSpPr>
        <p:spPr>
          <a:xfrm>
            <a:off x="731520" y="1554480"/>
            <a:ext cx="3136392" cy="1234440"/>
          </a:xfrm>
          <a:prstGeom prst="rect">
            <a:avLst/>
          </a:prstGeom>
          <a:noFill/>
          <a:ln/>
        </p:spPr>
        <p:txBody>
          <a:bodyPr wrap="square" lIns="1270" tIns="1270" rIns="1270" bIns="1270" rtlCol="0" anchor="ctr"/>
          <a:lstStyle/>
          <a:p>
            <a:pPr indent="0" marL="0">
              <a:buNone/>
            </a:pPr>
            <a:r>
              <a:rPr lang="en-US" sz="1800" b="1" dirty="0">
                <a:solidFill>
                  <a:schemeClr val="bg1"/>
                </a:solidFill>
              </a:rPr>
              <a:t>DONE</a:t>
            </a:r>
            <a:endParaRPr lang="en-US" sz="2000" dirty="0"/>
          </a:p>
          <a:p>
            <a:pPr indent="0" marL="0">
              <a:buNone/>
            </a:pPr>
            <a:r>
              <a:rPr lang="en-US" sz="2400" b="1" dirty="0">
                <a:solidFill>
                  <a:schemeClr val="bg1"/>
                </a:solidFill>
              </a:rPr>
              <a:t>Prototypes  </a:t>
            </a:r>
            <a:pPr indent="0" marL="0">
              <a:buNone/>
            </a:pPr>
            <a:r>
              <a:rPr lang="en-US" sz="2000" dirty="0">
                <a:solidFill>
                  <a:schemeClr val="bg1"/>
                </a:solidFill>
              </a:rPr>
              <a:t>both sites</a:t>
            </a:r>
            <a:endParaRPr lang="en-US" sz="2000" dirty="0"/>
          </a:p>
        </p:txBody>
      </p:sp>
      <p:sp>
        <p:nvSpPr>
          <p:cNvPr id="7" name="Step arrow 1"/>
          <p:cNvSpPr/>
          <p:nvPr/>
        </p:nvSpPr>
        <p:spPr>
          <a:xfrm>
            <a:off x="4005072" y="2148840"/>
            <a:ext cx="384048" cy="0"/>
          </a:xfrm>
          <a:prstGeom prst="line">
            <a:avLst/>
          </a:prstGeom>
          <a:noFill/>
          <a:ln w="19050">
            <a:solidFill>
              <a:schemeClr val="tx1"/>
            </a:solidFill>
            <a:prstDash val="solid"/>
            <a:tailEnd type="triangle"/>
          </a:ln>
        </p:spPr>
      </p:sp>
      <p:sp>
        <p:nvSpPr>
          <p:cNvPr id="8" name="Step 2"/>
          <p:cNvSpPr/>
          <p:nvPr/>
        </p:nvSpPr>
        <p:spPr>
          <a:xfrm>
            <a:off x="4434840" y="1554480"/>
            <a:ext cx="3319272" cy="1234440"/>
          </a:xfrm>
          <a:prstGeom prst="roundRect">
            <a:avLst>
              <a:gd name="adj" fmla="val 7407"/>
            </a:avLst>
          </a:prstGeom>
          <a:solidFill>
            <a:schemeClr val="accent6"/>
          </a:solidFill>
          <a:ln w="12700">
            <a:solidFill>
              <a:schemeClr val="accent5"/>
            </a:solidFill>
            <a:prstDash val="solid"/>
          </a:ln>
        </p:spPr>
      </p:sp>
      <p:sp>
        <p:nvSpPr>
          <p:cNvPr id="9" name="Step text 2"/>
          <p:cNvSpPr txBox="1"/>
          <p:nvPr/>
        </p:nvSpPr>
        <p:spPr>
          <a:xfrm>
            <a:off x="4526280" y="1554480"/>
            <a:ext cx="3136392" cy="1234440"/>
          </a:xfrm>
          <a:prstGeom prst="rect">
            <a:avLst/>
          </a:prstGeom>
          <a:noFill/>
          <a:ln/>
        </p:spPr>
        <p:txBody>
          <a:bodyPr wrap="square" lIns="1270" tIns="1270" rIns="1270" bIns="1270" rtlCol="0" anchor="ctr"/>
          <a:lstStyle/>
          <a:p>
            <a:pPr indent="0" marL="0">
              <a:buNone/>
            </a:pPr>
            <a:r>
              <a:rPr lang="en-US" sz="1800" b="1" dirty="0">
                <a:solidFill>
                  <a:schemeClr val="tx1"/>
                </a:solidFill>
              </a:rPr>
              <a:t>PLANNED</a:t>
            </a:r>
            <a:endParaRPr lang="en-US" sz="2000" dirty="0"/>
          </a:p>
          <a:p>
            <a:pPr indent="0" marL="0">
              <a:buNone/>
            </a:pPr>
            <a:r>
              <a:rPr lang="en-US" sz="2400" b="1" dirty="0">
                <a:solidFill>
                  <a:schemeClr val="tx1"/>
                </a:solidFill>
              </a:rPr>
              <a:t>Pilot  </a:t>
            </a:r>
            <a:pPr indent="0" marL="0">
              <a:buNone/>
            </a:pPr>
            <a:r>
              <a:rPr lang="en-US" sz="2000" dirty="0">
                <a:solidFill>
                  <a:schemeClr val="tx1"/>
                </a:solidFill>
              </a:rPr>
              <a:t>N = 6</a:t>
            </a:r>
            <a:endParaRPr lang="en-US" sz="2000" dirty="0"/>
          </a:p>
        </p:txBody>
      </p:sp>
      <p:sp>
        <p:nvSpPr>
          <p:cNvPr id="10" name="Step arrow 2"/>
          <p:cNvSpPr/>
          <p:nvPr/>
        </p:nvSpPr>
        <p:spPr>
          <a:xfrm>
            <a:off x="7799832" y="2148840"/>
            <a:ext cx="384048" cy="0"/>
          </a:xfrm>
          <a:prstGeom prst="line">
            <a:avLst/>
          </a:prstGeom>
          <a:noFill/>
          <a:ln w="19050">
            <a:solidFill>
              <a:schemeClr val="tx1"/>
            </a:solidFill>
            <a:prstDash val="solid"/>
            <a:tailEnd type="triangle"/>
          </a:ln>
        </p:spPr>
      </p:sp>
      <p:sp>
        <p:nvSpPr>
          <p:cNvPr id="11" name="Step 3"/>
          <p:cNvSpPr/>
          <p:nvPr/>
        </p:nvSpPr>
        <p:spPr>
          <a:xfrm>
            <a:off x="8229600" y="1554480"/>
            <a:ext cx="3319272" cy="1234440"/>
          </a:xfrm>
          <a:prstGeom prst="roundRect">
            <a:avLst>
              <a:gd name="adj" fmla="val 7407"/>
            </a:avLst>
          </a:prstGeom>
          <a:solidFill>
            <a:schemeClr val="accent6"/>
          </a:solidFill>
          <a:ln w="12700">
            <a:solidFill>
              <a:schemeClr val="accent5"/>
            </a:solidFill>
            <a:prstDash val="solid"/>
          </a:ln>
        </p:spPr>
      </p:sp>
      <p:sp>
        <p:nvSpPr>
          <p:cNvPr id="12" name="Step text 3"/>
          <p:cNvSpPr txBox="1"/>
          <p:nvPr/>
        </p:nvSpPr>
        <p:spPr>
          <a:xfrm>
            <a:off x="8321040" y="1554480"/>
            <a:ext cx="3136392" cy="1234440"/>
          </a:xfrm>
          <a:prstGeom prst="rect">
            <a:avLst/>
          </a:prstGeom>
          <a:noFill/>
          <a:ln/>
        </p:spPr>
        <p:txBody>
          <a:bodyPr wrap="square" lIns="1270" tIns="1270" rIns="1270" bIns="1270" rtlCol="0" anchor="ctr"/>
          <a:lstStyle/>
          <a:p>
            <a:pPr indent="0" marL="0">
              <a:buNone/>
            </a:pPr>
            <a:r>
              <a:rPr lang="en-US" sz="1800" b="1" dirty="0">
                <a:solidFill>
                  <a:schemeClr val="tx1"/>
                </a:solidFill>
              </a:rPr>
              <a:t>PLANNED</a:t>
            </a:r>
            <a:endParaRPr lang="en-US" sz="2000" dirty="0"/>
          </a:p>
          <a:p>
            <a:pPr indent="0" marL="0">
              <a:buNone/>
            </a:pPr>
            <a:r>
              <a:rPr lang="en-US" sz="2400" b="1" dirty="0">
                <a:solidFill>
                  <a:schemeClr val="tx1"/>
                </a:solidFill>
              </a:rPr>
              <a:t>Main study  </a:t>
            </a:r>
            <a:pPr indent="0" marL="0">
              <a:buNone/>
            </a:pPr>
            <a:r>
              <a:rPr lang="en-US" sz="2000" dirty="0">
                <a:solidFill>
                  <a:schemeClr val="tx1"/>
                </a:solidFill>
              </a:rPr>
              <a:t>N = 40–64</a:t>
            </a:r>
            <a:endParaRPr lang="en-US" sz="2000" dirty="0"/>
          </a:p>
        </p:txBody>
      </p:sp>
      <p:sp>
        <p:nvSpPr>
          <p:cNvPr id="13" name="Status box"/>
          <p:cNvSpPr/>
          <p:nvPr/>
        </p:nvSpPr>
        <p:spPr>
          <a:xfrm>
            <a:off x="640080" y="2971800"/>
            <a:ext cx="10908792" cy="1417320"/>
          </a:xfrm>
          <a:prstGeom prst="roundRect">
            <a:avLst>
              <a:gd name="adj" fmla="val 6452"/>
            </a:avLst>
          </a:prstGeom>
          <a:solidFill>
            <a:srgbClr val="FDEEEE"/>
          </a:solidFill>
          <a:ln w="12700">
            <a:solidFill>
              <a:srgbClr val="FE3939"/>
            </a:solidFill>
            <a:prstDash val="solid"/>
          </a:ln>
        </p:spPr>
      </p:sp>
      <p:sp>
        <p:nvSpPr>
          <p:cNvPr id="14" name="Status text"/>
          <p:cNvSpPr txBox="1"/>
          <p:nvPr/>
        </p:nvSpPr>
        <p:spPr>
          <a:xfrm>
            <a:off x="777240" y="2971800"/>
            <a:ext cx="10607040" cy="1417320"/>
          </a:xfrm>
          <a:prstGeom prst="rect">
            <a:avLst/>
          </a:prstGeom>
          <a:noFill/>
          <a:ln/>
        </p:spPr>
        <p:txBody>
          <a:bodyPr wrap="square" lIns="1270" tIns="1270" rIns="1270" bIns="1270" rtlCol="0" anchor="ctr"/>
          <a:lstStyle/>
          <a:p>
            <a:pPr indent="0" marL="0">
              <a:buNone/>
            </a:pPr>
            <a:r>
              <a:rPr lang="en-US" sz="2000" b="1" dirty="0">
                <a:solidFill>
                  <a:schemeClr val="accent4"/>
                </a:solidFill>
              </a:rPr>
              <a:t>So far: </a:t>
            </a:r>
            <a:pPr indent="0" marL="0">
              <a:buNone/>
            </a:pPr>
            <a:r>
              <a:rPr lang="en-US" sz="2000" dirty="0">
                <a:solidFill>
                  <a:schemeClr val="tx1"/>
                </a:solidFill>
              </a:rPr>
              <a:t>N = 3 preliminary study and a wiring check with mock LLM responses. No results are claimed.</a:t>
            </a:r>
            <a:endParaRPr lang="en-US" sz="2000" dirty="0"/>
          </a:p>
          <a:p>
            <a:pPr indent="0" marL="0">
              <a:buNone/>
            </a:pPr>
            <a:r>
              <a:rPr lang="en-US" sz="2000" b="1" dirty="0">
                <a:solidFill>
                  <a:schemeClr val="accent4"/>
                </a:solidFill>
              </a:rPr>
              <a:t>Limits: </a:t>
            </a:r>
            <a:pPr indent="0" marL="0">
              <a:buNone/>
            </a:pPr>
            <a:r>
              <a:rPr lang="en-US" sz="2000" dirty="0">
                <a:solidFill>
                  <a:schemeClr val="tx1"/>
                </a:solidFill>
              </a:rPr>
              <a:t>two mock-site genres and non-scrolling pages limit generalization.</a:t>
            </a:r>
            <a:endParaRPr lang="en-US" sz="2000" dirty="0"/>
          </a:p>
        </p:txBody>
      </p:sp>
      <p:sp>
        <p:nvSpPr>
          <p:cNvPr id="15" name="Advice box"/>
          <p:cNvSpPr/>
          <p:nvPr/>
        </p:nvSpPr>
        <p:spPr>
          <a:xfrm>
            <a:off x="640080" y="4572000"/>
            <a:ext cx="10908792" cy="1600200"/>
          </a:xfrm>
          <a:prstGeom prst="roundRect">
            <a:avLst>
              <a:gd name="adj" fmla="val 5714"/>
            </a:avLst>
          </a:prstGeom>
          <a:solidFill>
            <a:schemeClr val="tx2"/>
          </a:solidFill>
          <a:ln w="12700">
            <a:solidFill>
              <a:schemeClr val="tx2"/>
            </a:solidFill>
            <a:prstDash val="solid"/>
          </a:ln>
        </p:spPr>
      </p:sp>
      <p:sp>
        <p:nvSpPr>
          <p:cNvPr id="16" name="Advice text"/>
          <p:cNvSpPr txBox="1"/>
          <p:nvPr/>
        </p:nvSpPr>
        <p:spPr>
          <a:xfrm>
            <a:off x="777240" y="4572000"/>
            <a:ext cx="10607040" cy="1600200"/>
          </a:xfrm>
          <a:prstGeom prst="rect">
            <a:avLst/>
          </a:prstGeom>
          <a:noFill/>
          <a:ln/>
        </p:spPr>
        <p:txBody>
          <a:bodyPr wrap="square" lIns="1270" tIns="1270" rIns="1270" bIns="1270" rtlCol="0" anchor="ctr"/>
          <a:lstStyle/>
          <a:p>
            <a:pPr indent="0" marL="0">
              <a:buNone/>
            </a:pPr>
            <a:r>
              <a:rPr lang="en-US" sz="2400" b="1" dirty="0">
                <a:solidFill>
                  <a:schemeClr val="bg1"/>
                </a:solidFill>
              </a:rPr>
              <a:t>Advice wanted</a:t>
            </a:r>
            <a:endParaRPr lang="en-US" sz="2000" dirty="0"/>
          </a:p>
          <a:p>
            <a:pPr indent="0" marL="0">
              <a:buNone/>
            </a:pPr>
            <a:r>
              <a:rPr lang="en-US" sz="2000" dirty="0">
                <a:solidFill>
                  <a:schemeClr val="bg1"/>
                </a:solidFill>
              </a:rPr>
              <a:t>1. Is recall and over-claim rate against human key points a sound evaluation?</a:t>
            </a:r>
            <a:endParaRPr lang="en-US" sz="2000" dirty="0"/>
          </a:p>
          <a:p>
            <a:pPr indent="0" marL="0">
              <a:buNone/>
            </a:pPr>
            <a:r>
              <a:rPr lang="en-US" sz="2000" dirty="0">
                <a:solidFill>
                  <a:schemeClr val="bg1"/>
                </a:solidFill>
              </a:rPr>
              <a:t>2. Is N = 40–64 adequate for the planned versions per site?</a:t>
            </a:r>
            <a:endParaRPr lang="en-US" sz="2000" dirty="0"/>
          </a:p>
        </p:txBody>
      </p:sp>
      <p:sp>
        <p:nvSpPr>
          <p:cNvPr id="25" name="Slide Number Placeholder 0"/>
          <p:cNvSpPr>
            <a:spLocks noGrp="1"/>
          </p:cNvSpPr>
          <p:nvPr>
            <p:ph type="sldNum" sz="quarter" idx="4294967295"/>
          </p:nvPr>
        </p:nvSpPr>
        <p:spPr>
          <a:xfrm>
            <a:off x="11155680" y="6382512"/>
            <a:ext cx="411480" cy="292608"/>
          </a:xfrm>
          <a:prstGeom prst="rect">
            <a:avLst/>
          </a:prstGeom>
          <a:extLst>
            <a:ext uri="{C572A759-6A51-4108-AA02-DFA0A04FC94B}">
              <ma14:wrappingTextBoxFlag xmlns:ma14="http://schemas.microsoft.com/office/mac/drawingml/2011/main" val="0"/>
            </a:ext>
          </a:extLst>
        </p:spPr>
        <p:txBody>
          <a:bodyPr/>
          <a:lstStyle>
            <a:lvl1pPr>
              <a:defRPr sz="1800">
                <a:solidFill>
                  <a:schemeClr val="tx1"/>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Hesitation (guidebook style)">
  <a:themeElements>
    <a:clrScheme name="Hesitation (guidebook style)">
      <a:dk1>
        <a:srgbClr val="1A1A1A"/>
      </a:dk1>
      <a:lt1>
        <a:srgbClr val="FFFFFF"/>
      </a:lt1>
      <a:dk2>
        <a:srgbClr val="0031D8"/>
      </a:dk2>
      <a:lt2>
        <a:srgbClr val="F8F8FB"/>
      </a:lt2>
      <a:accent1>
        <a:srgbClr val="0017C1"/>
      </a:accent1>
      <a:accent2>
        <a:srgbClr val="666666"/>
      </a:accent2>
      <a:accent3>
        <a:srgbClr val="626264"/>
      </a:accent3>
      <a:accent4>
        <a:srgbClr val="CE0000"/>
      </a:accent4>
      <a:accent5>
        <a:srgbClr val="7096F8"/>
      </a:accent5>
      <a:accent6>
        <a:srgbClr val="E8F1FE"/>
      </a:accent6>
      <a:hlink>
        <a:srgbClr val="0017C1"/>
      </a:hlink>
      <a:folHlink>
        <a:srgbClr val="626264"/>
      </a:folHlink>
    </a:clrScheme>
    <a:fontScheme name="Hesitation (guidebook sty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Why Users Hesitate</dc:title>
  <dc:subject>PptxGenJS Presentation</dc:subject>
  <dc:creator>Reina Ikeda</dc:creator>
  <cp:lastModifiedBy>Reina Ikeda</cp:lastModifiedBy>
  <cp:revision>1</cp:revision>
  <dcterms:created xsi:type="dcterms:W3CDTF">2026-10-07T16:37:23Z</dcterms:created>
  <dcterms:modified xsi:type="dcterms:W3CDTF">2026-10-07T16:37:23Z</dcterms:modified>
</cp:coreProperties>
</file>